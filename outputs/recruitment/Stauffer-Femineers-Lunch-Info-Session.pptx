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31B181-EEAD-4F1D-AA23-C14707AD67C0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808AC0-B9E2-432B-8FC3-4335E06D2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09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students and introduce the mentors who are present. Ask: What is one thing in your school or community that you wish worked better?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Workspace source: recruitment.html</a:t>
            </a:r>
          </a:p>
          <a:p>
            <a:r>
              <a:rPr lang="en-US"/>
              <a:t>- Recruitment hub: https://spartandesign.github.io/stauffer-femineers/recruitment.html</a:t>
            </a:r>
          </a:p>
          <a:p>
            <a:r>
              <a:rPr lang="en-US"/>
              <a:t>- Workspace image: images/Canvas Course Image.png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08AC0-B9E2-432B-8FC3-4335E06D26B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47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Frame Femineers as a learning community, not a club for students who already know engineering. Invite students to notice which of the three verbs sounds most exciting to them.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Workspace source: recruitment.html</a:t>
            </a:r>
          </a:p>
          <a:p>
            <a:r>
              <a:rPr lang="en-US"/>
              <a:t>- Recruitment hub: https://spartandesign.github.io/stauffer-femineers/recruitment.html</a:t>
            </a:r>
          </a:p>
          <a:p>
            <a:r>
              <a:rPr lang="en-US"/>
              <a:t>- Cal Poly Pomona Femineer Program overview: https://www.cpp.edu/engineering/femineer/index.shtml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08AC0-B9E2-432B-8FC3-4335E06D26B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63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every first-year Femineer begins in Creative Robotics and works with one partner. Point out that the image is a concept illustration of the planned materials, not a wiring guide.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Workspace source: creative-robotics.html</a:t>
            </a:r>
          </a:p>
          <a:p>
            <a:r>
              <a:rPr lang="en-US"/>
              <a:t>- Workspace source: recruitment.html</a:t>
            </a:r>
          </a:p>
          <a:p>
            <a:r>
              <a:rPr lang="en-US"/>
              <a:t>- Workspace image: assets/images/robotics-materials-cartoon.webp</a:t>
            </a:r>
          </a:p>
          <a:p>
            <a:r>
              <a:rPr lang="en-US"/>
              <a:t>- Recruitment hub: https://spartandesign.github.io/stauffer-femineers/recruitment.html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08AC0-B9E2-432B-8FC3-4335E06D26B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82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 that selection is not a grade check. Ask students which habit they already use and which one they want to strengthen.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Workspace source: teacher-recommendation.html</a:t>
            </a:r>
          </a:p>
          <a:p>
            <a:r>
              <a:rPr lang="en-US"/>
              <a:t>- Workspace source: recruitment-toolkit.html</a:t>
            </a:r>
          </a:p>
          <a:p>
            <a:r>
              <a:rPr lang="en-US"/>
              <a:t>- Teacher recommendation form: https://forms.gle/sE54GRSr9tNdvAqL8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08AC0-B9E2-432B-8FC3-4335E06D26B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91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Pause for student ideas. Take two or three answers, then connect each idea to the simple robotics loop: notice, decide, respond.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Workspace source: creative-robotics.html</a:t>
            </a:r>
          </a:p>
          <a:p>
            <a:r>
              <a:rPr lang="en-US"/>
              <a:t>- Workspace image: assets/images/project-concepts-cartoon.webp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08AC0-B9E2-432B-8FC3-4335E06D26B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754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commitment honestly. The five workdays are full school-day pull-outs in Room 14; students are responsible for arranging and completing missed classwork. The three lunch checkpoints are separate from today's recruitment lunch.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Workspace source: recruitment.html</a:t>
            </a:r>
          </a:p>
          <a:p>
            <a:r>
              <a:rPr lang="en-US"/>
              <a:t>- Workspace source: program-roadmap.html</a:t>
            </a:r>
          </a:p>
          <a:p>
            <a:r>
              <a:rPr lang="en-US"/>
              <a:t>- Workspace source: google-forms/StaufferFemineersRecruitment.gs</a:t>
            </a:r>
          </a:p>
          <a:p>
            <a:r>
              <a:rPr lang="en-US"/>
              <a:t>- Recruitment hub: https://spartandesign.github.io/stauffer-femineers/recruitment.html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08AC0-B9E2-432B-8FC3-4335E06D26B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0431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Give students time to scan the code. Clarify that the QR opens the recruitment hub, where first-year students choose the student application and families review the commitment. Close with questions.</a:t>
            </a:r>
          </a:p>
          <a:p>
            <a:endParaRPr lang="en-US"/>
          </a:p>
          <a:p>
            <a:r>
              <a:rPr lang="en-US"/>
              <a:t>[Sources]</a:t>
            </a:r>
          </a:p>
          <a:p>
            <a:r>
              <a:rPr lang="en-US"/>
              <a:t>- Workspace source: recruitment.html</a:t>
            </a:r>
          </a:p>
          <a:p>
            <a:r>
              <a:rPr lang="en-US"/>
              <a:t>- Workspace image: assets/images/recruitment-qr.png</a:t>
            </a:r>
          </a:p>
          <a:p>
            <a:r>
              <a:rPr lang="en-US"/>
              <a:t>- Recruitment hub: https://spartandesign.github.io/stauffer-femineers/recruitment.html</a:t>
            </a:r>
          </a:p>
          <a:p>
            <a:r>
              <a:rPr lang="en-US"/>
              <a:t>- Staff recommendation form (not the student application): https://forms.gle/sE54GRSr9tNdvAqL8</a:t>
            </a:r>
          </a:p>
          <a:p>
            <a:r>
              <a:rPr lang="en-US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08AC0-B9E2-432B-8FC3-4335E06D26B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4629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0B8C1-881E-9A02-9910-D60D283E0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3B753-BEA3-364E-31B3-448FC036B9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B632E-224D-475F-D1AF-DFE94B8B5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AB46B-3D88-A319-9DA8-28F1C098A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99626-CF4B-E936-D11F-5884D11C9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74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B172E-8421-1CAB-55B5-C9882FBD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C5F5C-30DF-601A-73A9-024480F91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F9A17-E04E-BEE3-9879-8BF19FE2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D23C3-1A76-69B1-6705-D40D56903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D76B3-1EAD-DDA2-8342-1509D1DEF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8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135B-E0E4-3C1B-A88B-E24799B8B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66DC0-62AF-F89B-6542-624F2947F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F2461-0060-EBA5-91E1-939C20E6C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2CBF4-FC0C-53BF-DD6B-36A3990D9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421C4-7FAA-4F6F-57AE-F88A4CC5E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66DE5-4F86-CE9F-B71F-4B7175E28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D728E-0DB4-6A12-AB8A-9431699C0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209A18-D622-7622-D93C-E127ABF0C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D0F01-E7B7-3A0E-21A2-BE252F7D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3E015-796D-6330-3683-4C09A273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6488E0-99DE-731D-FDAB-EDED6091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86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DBA5D-1EED-0778-E9D7-07BF591BB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D21C8-4679-58DD-65BC-FF89887F9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E80B64-05CC-703F-8917-E981195602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6853C-2E52-7912-FD02-80F907FAB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0994B2-7290-5AFE-F666-D81ED1F14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E754C-1DE0-06CC-7E51-5C526E786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D2F076-173F-F338-A9D2-C6CDA6D69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C34C69-3FFB-ACFF-D2D3-8C0DAABF3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E5959-6659-ABD9-C5AE-03A678019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8A7059-3669-558F-EB91-74FE78D3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A6C087-2977-B7B8-8465-07E07704D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416DC5-CBF0-DAC0-C629-7CB1CBD9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7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8B8442-89A9-81DA-C13F-CAF675609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EB1700-21EC-7FE3-5F88-5BDDF6E6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50B5A-4520-3681-6C2A-335B1F2A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8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38E9-104D-77B7-C8C4-7EDBF2DD1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CEE3B-DDAD-8670-A17F-B441EA4F4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810A8-A954-6A36-37CB-D9498D6F42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DA196-AB40-963F-F1D8-DE18C3D3E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EA547-A5C0-0850-977C-D0BABDB82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0D4112-CB05-E891-0312-228123384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5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46D46-785A-70D2-843E-79E803189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A30618-5146-E892-8A9F-6721766048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DF4101-0BB4-3163-01B1-5B50A81A8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C1C971-589A-BBEB-54B0-0F1AD1B04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C65061-4FDB-6A8F-F995-03F184A8D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E29276-841A-F527-B13C-2836ECCE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41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446D6-CD17-02C7-A09F-148CDF05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AE8C5-6C86-1A01-2089-2E5687495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77346-6617-7012-058A-0DAE4164F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64748-7745-339F-E8DC-4A665061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237DB-77B8-2A34-331E-CD0152FA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65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2CBD35-6993-9801-4C8F-B6E5C8333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7450B-90B3-8ADD-6048-2FF6DCE31D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C717C-E924-471A-735F-4ECCC52BB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624F8-82C3-5F36-FDA3-FFA893AA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702DB-EBDD-3978-E625-AB904C19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67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82829D-4AD7-22F3-CF1D-44ECD33B7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90151-F77B-F1B0-FCED-1EC229A3A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E1B18-1822-A5A9-429D-D79E53A99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56291-38FF-49BB-A79D-C8589CE80FF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33C4C-D462-6666-06CA-59AF2D276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010FA-8B7F-4FD2-4DC0-C3DD6CAE7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67031-5A0E-4047-A916-DFC109708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spartandesign.github.io/stauffer-femineers/recruitmen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violet-bar">
            <a:extLst>
              <a:ext uri="{FF2B5EF4-FFF2-40B4-BE49-F238E27FC236}">
                <a16:creationId xmlns:a16="http://schemas.microsoft.com/office/drawing/2014/main" id="{A90CD2B8-CE35-AC91-A834-043F2A4E4E48}"/>
              </a:ext>
            </a:extLst>
          </p:cNvPr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5F3D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ver-eyebrow">
            <a:extLst>
              <a:ext uri="{FF2B5EF4-FFF2-40B4-BE49-F238E27FC236}">
                <a16:creationId xmlns:a16="http://schemas.microsoft.com/office/drawing/2014/main" id="{54491F5E-5002-ED11-2E5F-05CF8E687DEE}"/>
              </a:ext>
            </a:extLst>
          </p:cNvPr>
          <p:cNvSpPr txBox="1"/>
          <p:nvPr/>
        </p:nvSpPr>
        <p:spPr>
          <a:xfrm>
            <a:off x="685800" y="723899"/>
            <a:ext cx="5334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50" b="1">
                <a:solidFill>
                  <a:srgbClr val="0D6765"/>
                </a:solidFill>
                <a:latin typeface="Arial" panose="020B0604020202020204" pitchFamily="34" charset="0"/>
              </a:rPr>
              <a:t>STAUFFER FEMINEERS • LUNCH INFO SESSION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5822EF6A-7941-B043-27FD-89DF1269A58A}"/>
              </a:ext>
            </a:extLst>
          </p:cNvPr>
          <p:cNvSpPr txBox="1"/>
          <p:nvPr/>
        </p:nvSpPr>
        <p:spPr>
          <a:xfrm>
            <a:off x="685800" y="1352549"/>
            <a:ext cx="5572125" cy="201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5400" b="1">
                <a:solidFill>
                  <a:srgbClr val="18233A"/>
                </a:solidFill>
                <a:latin typeface="Arial" panose="020B0604020202020204" pitchFamily="34" charset="0"/>
              </a:rPr>
              <a:t>What future</a:t>
            </a:r>
          </a:p>
          <a:p>
            <a:r>
              <a:rPr lang="en-US" sz="5400" b="1">
                <a:solidFill>
                  <a:srgbClr val="18233A"/>
                </a:solidFill>
                <a:latin typeface="Arial" panose="020B0604020202020204" pitchFamily="34" charset="0"/>
              </a:rPr>
              <a:t>will you design?</a:t>
            </a:r>
          </a:p>
        </p:txBody>
      </p:sp>
      <p:sp>
        <p:nvSpPr>
          <p:cNvPr id="5" name="cover-theme">
            <a:extLst>
              <a:ext uri="{FF2B5EF4-FFF2-40B4-BE49-F238E27FC236}">
                <a16:creationId xmlns:a16="http://schemas.microsoft.com/office/drawing/2014/main" id="{00E2EBC0-BD70-48A9-0C6C-FB9198368196}"/>
              </a:ext>
            </a:extLst>
          </p:cNvPr>
          <p:cNvSpPr txBox="1"/>
          <p:nvPr/>
        </p:nvSpPr>
        <p:spPr>
          <a:xfrm>
            <a:off x="685800" y="3676649"/>
            <a:ext cx="49530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50" b="1">
                <a:solidFill>
                  <a:srgbClr val="5F3DC4"/>
                </a:solidFill>
                <a:latin typeface="Arial" panose="020B0604020202020204" pitchFamily="34" charset="0"/>
              </a:rPr>
              <a:t>Limitless: Designed by Her</a:t>
            </a:r>
          </a:p>
        </p:txBody>
      </p:sp>
      <p:cxnSp>
        <p:nvCxnSpPr>
          <p:cNvPr id="6" name="cover-rule">
            <a:extLst>
              <a:ext uri="{FF2B5EF4-FFF2-40B4-BE49-F238E27FC236}">
                <a16:creationId xmlns:a16="http://schemas.microsoft.com/office/drawing/2014/main" id="{FDB937A0-B68C-32BE-DD51-7832DFAD46F9}"/>
              </a:ext>
            </a:extLst>
          </p:cNvPr>
          <p:cNvCxnSpPr/>
          <p:nvPr/>
        </p:nvCxnSpPr>
        <p:spPr>
          <a:xfrm>
            <a:off x="685800" y="4419600"/>
            <a:ext cx="4953000" cy="0"/>
          </a:xfrm>
          <a:prstGeom prst="line">
            <a:avLst/>
          </a:prstGeom>
          <a:ln w="19050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ver-room">
            <a:extLst>
              <a:ext uri="{FF2B5EF4-FFF2-40B4-BE49-F238E27FC236}">
                <a16:creationId xmlns:a16="http://schemas.microsoft.com/office/drawing/2014/main" id="{CB97A86C-88AE-59BD-8698-2C18219B8244}"/>
              </a:ext>
            </a:extLst>
          </p:cNvPr>
          <p:cNvSpPr txBox="1"/>
          <p:nvPr/>
        </p:nvSpPr>
        <p:spPr>
          <a:xfrm>
            <a:off x="685800" y="4686299"/>
            <a:ext cx="5143500" cy="704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50">
                <a:solidFill>
                  <a:srgbClr val="59657A"/>
                </a:solidFill>
                <a:latin typeface="Arial" panose="020B0604020202020204" pitchFamily="34" charset="0"/>
              </a:rPr>
              <a:t>Meet the mentors • Explore the program • Room 14</a:t>
            </a:r>
          </a:p>
        </p:txBody>
      </p:sp>
      <p:sp>
        <p:nvSpPr>
          <p:cNvPr id="8" name="cover-image-backing">
            <a:extLst>
              <a:ext uri="{FF2B5EF4-FFF2-40B4-BE49-F238E27FC236}">
                <a16:creationId xmlns:a16="http://schemas.microsoft.com/office/drawing/2014/main" id="{E04B8EA3-4D74-FA25-1974-C01805B8F9B1}"/>
              </a:ext>
            </a:extLst>
          </p:cNvPr>
          <p:cNvSpPr/>
          <p:nvPr/>
        </p:nvSpPr>
        <p:spPr>
          <a:xfrm>
            <a:off x="6362700" y="342900"/>
            <a:ext cx="5143500" cy="5886450"/>
          </a:xfrm>
          <a:prstGeom prst="rect">
            <a:avLst/>
          </a:prstGeom>
          <a:solidFill>
            <a:srgbClr val="F2EDFF"/>
          </a:solidFill>
          <a:ln w="9525">
            <a:solidFill>
              <a:srgbClr val="DF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ver-hero-image" descr="Students collaborating on creative robotics and wearable technology projects">
            <a:extLst>
              <a:ext uri="{FF2B5EF4-FFF2-40B4-BE49-F238E27FC236}">
                <a16:creationId xmlns:a16="http://schemas.microsoft.com/office/drawing/2014/main" id="{3984F1BD-88B5-9E28-08EB-D104750D848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0" y="342900"/>
            <a:ext cx="5143500" cy="5886450"/>
          </a:xfrm>
          <a:prstGeom prst="rect">
            <a:avLst/>
          </a:prstGeom>
        </p:spPr>
      </p:pic>
      <p:sp>
        <p:nvSpPr>
          <p:cNvPr id="11" name="slide-1-footer-label">
            <a:extLst>
              <a:ext uri="{FF2B5EF4-FFF2-40B4-BE49-F238E27FC236}">
                <a16:creationId xmlns:a16="http://schemas.microsoft.com/office/drawing/2014/main" id="{5F30DA6A-D4D8-ABB9-5F6B-E9C47D1F469E}"/>
              </a:ext>
            </a:extLst>
          </p:cNvPr>
          <p:cNvSpPr txBox="1"/>
          <p:nvPr/>
        </p:nvSpPr>
        <p:spPr>
          <a:xfrm>
            <a:off x="685800" y="638175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350" b="1">
                <a:solidFill>
                  <a:srgbClr val="59657A"/>
                </a:solidFill>
                <a:latin typeface="Arial" panose="020B0604020202020204" pitchFamily="34" charset="0"/>
              </a:rPr>
              <a:t>LIMITLESS • DESIGNED BY HER</a:t>
            </a:r>
          </a:p>
        </p:txBody>
      </p:sp>
      <p:sp>
        <p:nvSpPr>
          <p:cNvPr id="12" name="slide-1-footer-number">
            <a:extLst>
              <a:ext uri="{FF2B5EF4-FFF2-40B4-BE49-F238E27FC236}">
                <a16:creationId xmlns:a16="http://schemas.microsoft.com/office/drawing/2014/main" id="{5C8CE819-061F-19BB-40A0-7A3BD013AA37}"/>
              </a:ext>
            </a:extLst>
          </p:cNvPr>
          <p:cNvSpPr txBox="1"/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1350">
                <a:solidFill>
                  <a:srgbClr val="59657A"/>
                </a:solidFill>
                <a:latin typeface="Arial" panose="020B06040202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05131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2-title">
            <a:extLst>
              <a:ext uri="{FF2B5EF4-FFF2-40B4-BE49-F238E27FC236}">
                <a16:creationId xmlns:a16="http://schemas.microsoft.com/office/drawing/2014/main" id="{357B3FE9-E986-BA27-ACDF-003787737DC5}"/>
              </a:ext>
            </a:extLst>
          </p:cNvPr>
          <p:cNvSpPr txBox="1"/>
          <p:nvPr/>
        </p:nvSpPr>
        <p:spPr>
          <a:xfrm>
            <a:off x="685800" y="457199"/>
            <a:ext cx="108204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18233A"/>
                </a:solidFill>
                <a:latin typeface="Arial" panose="020B0604020202020204" pitchFamily="34" charset="0"/>
              </a:rPr>
              <a:t>Femineers turns curiosity into real things</a:t>
            </a:r>
          </a:p>
        </p:txBody>
      </p:sp>
      <p:cxnSp>
        <p:nvCxnSpPr>
          <p:cNvPr id="3" name="slide-2-title-rule">
            <a:extLst>
              <a:ext uri="{FF2B5EF4-FFF2-40B4-BE49-F238E27FC236}">
                <a16:creationId xmlns:a16="http://schemas.microsoft.com/office/drawing/2014/main" id="{7A5DE2AE-6095-19FB-1E16-BF8D8AFDBE85}"/>
              </a:ext>
            </a:extLst>
          </p:cNvPr>
          <p:cNvCxnSpPr/>
          <p:nvPr/>
        </p:nvCxnSpPr>
        <p:spPr>
          <a:xfrm>
            <a:off x="685800" y="1352550"/>
            <a:ext cx="10820400" cy="0"/>
          </a:xfrm>
          <a:prstGeom prst="line">
            <a:avLst/>
          </a:prstGeom>
          <a:ln w="14288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magine-accent">
            <a:extLst>
              <a:ext uri="{FF2B5EF4-FFF2-40B4-BE49-F238E27FC236}">
                <a16:creationId xmlns:a16="http://schemas.microsoft.com/office/drawing/2014/main" id="{6D9DEE30-B7E7-5DFE-4435-3BE1C2312CB2}"/>
              </a:ext>
            </a:extLst>
          </p:cNvPr>
          <p:cNvSpPr/>
          <p:nvPr/>
        </p:nvSpPr>
        <p:spPr>
          <a:xfrm>
            <a:off x="685800" y="2000250"/>
            <a:ext cx="781050" cy="76200"/>
          </a:xfrm>
          <a:prstGeom prst="rect">
            <a:avLst/>
          </a:prstGeom>
          <a:solidFill>
            <a:srgbClr val="EE6C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imagine-heading">
            <a:extLst>
              <a:ext uri="{FF2B5EF4-FFF2-40B4-BE49-F238E27FC236}">
                <a16:creationId xmlns:a16="http://schemas.microsoft.com/office/drawing/2014/main" id="{23EAD6A1-BE89-BD37-C8BA-8059CF50ADC7}"/>
              </a:ext>
            </a:extLst>
          </p:cNvPr>
          <p:cNvSpPr txBox="1"/>
          <p:nvPr/>
        </p:nvSpPr>
        <p:spPr>
          <a:xfrm>
            <a:off x="685800" y="2247899"/>
            <a:ext cx="314325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50" b="1">
                <a:solidFill>
                  <a:srgbClr val="18233A"/>
                </a:solidFill>
                <a:latin typeface="Arial" panose="020B0604020202020204" pitchFamily="34" charset="0"/>
              </a:rPr>
              <a:t>Imagine</a:t>
            </a:r>
          </a:p>
        </p:txBody>
      </p:sp>
      <p:sp>
        <p:nvSpPr>
          <p:cNvPr id="6" name="imagine-body">
            <a:extLst>
              <a:ext uri="{FF2B5EF4-FFF2-40B4-BE49-F238E27FC236}">
                <a16:creationId xmlns:a16="http://schemas.microsoft.com/office/drawing/2014/main" id="{59399732-E6E3-3C45-25D6-D6BA3C79D1BF}"/>
              </a:ext>
            </a:extLst>
          </p:cNvPr>
          <p:cNvSpPr txBox="1"/>
          <p:nvPr/>
        </p:nvSpPr>
        <p:spPr>
          <a:xfrm>
            <a:off x="685800" y="2876549"/>
            <a:ext cx="3143250" cy="1200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50">
                <a:solidFill>
                  <a:srgbClr val="59657A"/>
                </a:solidFill>
                <a:latin typeface="Arial" panose="020B0604020202020204" pitchFamily="34" charset="0"/>
              </a:rPr>
              <a:t>Start with a future person, place, or problem that matters to you.</a:t>
            </a:r>
          </a:p>
        </p:txBody>
      </p:sp>
      <p:sp>
        <p:nvSpPr>
          <p:cNvPr id="7" name="build-accent">
            <a:extLst>
              <a:ext uri="{FF2B5EF4-FFF2-40B4-BE49-F238E27FC236}">
                <a16:creationId xmlns:a16="http://schemas.microsoft.com/office/drawing/2014/main" id="{3706D6C9-81EC-25E7-3A96-4811727FF66A}"/>
              </a:ext>
            </a:extLst>
          </p:cNvPr>
          <p:cNvSpPr/>
          <p:nvPr/>
        </p:nvSpPr>
        <p:spPr>
          <a:xfrm>
            <a:off x="4524375" y="2000250"/>
            <a:ext cx="781050" cy="76200"/>
          </a:xfrm>
          <a:prstGeom prst="rect">
            <a:avLst/>
          </a:prstGeom>
          <a:solidFill>
            <a:srgbClr val="168B8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uild-heading">
            <a:extLst>
              <a:ext uri="{FF2B5EF4-FFF2-40B4-BE49-F238E27FC236}">
                <a16:creationId xmlns:a16="http://schemas.microsoft.com/office/drawing/2014/main" id="{241F33BC-B241-E848-4671-2F66C644B6CA}"/>
              </a:ext>
            </a:extLst>
          </p:cNvPr>
          <p:cNvSpPr txBox="1"/>
          <p:nvPr/>
        </p:nvSpPr>
        <p:spPr>
          <a:xfrm>
            <a:off x="4524375" y="2247899"/>
            <a:ext cx="314325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50" b="1">
                <a:solidFill>
                  <a:srgbClr val="18233A"/>
                </a:solidFill>
                <a:latin typeface="Arial" panose="020B0604020202020204" pitchFamily="34" charset="0"/>
              </a:rPr>
              <a:t>Build</a:t>
            </a:r>
          </a:p>
        </p:txBody>
      </p:sp>
      <p:sp>
        <p:nvSpPr>
          <p:cNvPr id="9" name="build-body">
            <a:extLst>
              <a:ext uri="{FF2B5EF4-FFF2-40B4-BE49-F238E27FC236}">
                <a16:creationId xmlns:a16="http://schemas.microsoft.com/office/drawing/2014/main" id="{35A1DE47-21C4-1AD7-F6F0-D7CDFD2AB7C4}"/>
              </a:ext>
            </a:extLst>
          </p:cNvPr>
          <p:cNvSpPr txBox="1"/>
          <p:nvPr/>
        </p:nvSpPr>
        <p:spPr>
          <a:xfrm>
            <a:off x="4524375" y="2876549"/>
            <a:ext cx="3143250" cy="1200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50">
                <a:solidFill>
                  <a:srgbClr val="59657A"/>
                </a:solidFill>
                <a:latin typeface="Arial" panose="020B0604020202020204" pitchFamily="34" charset="0"/>
              </a:rPr>
              <a:t>Turn an idea into robotics, code, craft materials, and a physical design.</a:t>
            </a:r>
          </a:p>
        </p:txBody>
      </p:sp>
      <p:sp>
        <p:nvSpPr>
          <p:cNvPr id="10" name="share-accent">
            <a:extLst>
              <a:ext uri="{FF2B5EF4-FFF2-40B4-BE49-F238E27FC236}">
                <a16:creationId xmlns:a16="http://schemas.microsoft.com/office/drawing/2014/main" id="{8A0ECCA5-CC5E-3BB3-B819-16BDEE048636}"/>
              </a:ext>
            </a:extLst>
          </p:cNvPr>
          <p:cNvSpPr/>
          <p:nvPr/>
        </p:nvSpPr>
        <p:spPr>
          <a:xfrm>
            <a:off x="8362950" y="2000250"/>
            <a:ext cx="781050" cy="76200"/>
          </a:xfrm>
          <a:prstGeom prst="rect">
            <a:avLst/>
          </a:prstGeom>
          <a:solidFill>
            <a:srgbClr val="5F3D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hare-heading">
            <a:extLst>
              <a:ext uri="{FF2B5EF4-FFF2-40B4-BE49-F238E27FC236}">
                <a16:creationId xmlns:a16="http://schemas.microsoft.com/office/drawing/2014/main" id="{58F758DF-899E-1FBA-C6BD-AA63E8E9F2F5}"/>
              </a:ext>
            </a:extLst>
          </p:cNvPr>
          <p:cNvSpPr txBox="1"/>
          <p:nvPr/>
        </p:nvSpPr>
        <p:spPr>
          <a:xfrm>
            <a:off x="8362950" y="2247899"/>
            <a:ext cx="314325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50" b="1">
                <a:solidFill>
                  <a:srgbClr val="18233A"/>
                </a:solidFill>
                <a:latin typeface="Arial" panose="020B0604020202020204" pitchFamily="34" charset="0"/>
              </a:rPr>
              <a:t>Share</a:t>
            </a:r>
          </a:p>
        </p:txBody>
      </p:sp>
      <p:sp>
        <p:nvSpPr>
          <p:cNvPr id="12" name="share-body">
            <a:extLst>
              <a:ext uri="{FF2B5EF4-FFF2-40B4-BE49-F238E27FC236}">
                <a16:creationId xmlns:a16="http://schemas.microsoft.com/office/drawing/2014/main" id="{F893EFF6-A80C-6B3B-5F4D-FAA38519A0A5}"/>
              </a:ext>
            </a:extLst>
          </p:cNvPr>
          <p:cNvSpPr txBox="1"/>
          <p:nvPr/>
        </p:nvSpPr>
        <p:spPr>
          <a:xfrm>
            <a:off x="8362950" y="2876549"/>
            <a:ext cx="3143250" cy="1200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50">
                <a:solidFill>
                  <a:srgbClr val="59657A"/>
                </a:solidFill>
                <a:latin typeface="Arial" panose="020B0604020202020204" pitchFamily="34" charset="0"/>
              </a:rPr>
              <a:t>Test, improve, and present what you made to families and the community.</a:t>
            </a:r>
          </a:p>
        </p:txBody>
      </p:sp>
      <p:sp>
        <p:nvSpPr>
          <p:cNvPr id="13" name="slide-2-bottom-band">
            <a:extLst>
              <a:ext uri="{FF2B5EF4-FFF2-40B4-BE49-F238E27FC236}">
                <a16:creationId xmlns:a16="http://schemas.microsoft.com/office/drawing/2014/main" id="{5CEBD4BB-709F-6F3E-B5D9-F90964D0CD1A}"/>
              </a:ext>
            </a:extLst>
          </p:cNvPr>
          <p:cNvSpPr/>
          <p:nvPr/>
        </p:nvSpPr>
        <p:spPr>
          <a:xfrm>
            <a:off x="685800" y="5391150"/>
            <a:ext cx="10820400" cy="685800"/>
          </a:xfrm>
          <a:prstGeom prst="rect">
            <a:avLst/>
          </a:prstGeom>
          <a:solidFill>
            <a:srgbClr val="FFF8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-2-bottom-message">
            <a:extLst>
              <a:ext uri="{FF2B5EF4-FFF2-40B4-BE49-F238E27FC236}">
                <a16:creationId xmlns:a16="http://schemas.microsoft.com/office/drawing/2014/main" id="{681E939D-F40A-D709-CE3B-4DB5DE956186}"/>
              </a:ext>
            </a:extLst>
          </p:cNvPr>
          <p:cNvSpPr txBox="1"/>
          <p:nvPr/>
        </p:nvSpPr>
        <p:spPr>
          <a:xfrm>
            <a:off x="933450" y="5572124"/>
            <a:ext cx="103251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950" b="1">
                <a:solidFill>
                  <a:srgbClr val="40218F"/>
                </a:solidFill>
                <a:latin typeface="Arial" panose="020B0604020202020204" pitchFamily="34" charset="0"/>
              </a:rPr>
              <a:t>Creative engineering • Digital design • Teamwork • Two public showcases</a:t>
            </a:r>
          </a:p>
        </p:txBody>
      </p:sp>
      <p:sp>
        <p:nvSpPr>
          <p:cNvPr id="15" name="slide-2-footer-label">
            <a:extLst>
              <a:ext uri="{FF2B5EF4-FFF2-40B4-BE49-F238E27FC236}">
                <a16:creationId xmlns:a16="http://schemas.microsoft.com/office/drawing/2014/main" id="{795F2FA7-698E-37B6-72AD-427C9214CD81}"/>
              </a:ext>
            </a:extLst>
          </p:cNvPr>
          <p:cNvSpPr txBox="1"/>
          <p:nvPr/>
        </p:nvSpPr>
        <p:spPr>
          <a:xfrm>
            <a:off x="685800" y="638175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350" b="1">
                <a:solidFill>
                  <a:srgbClr val="59657A"/>
                </a:solidFill>
                <a:latin typeface="Arial" panose="020B0604020202020204" pitchFamily="34" charset="0"/>
              </a:rPr>
              <a:t>LIMITLESS • ROOM 14</a:t>
            </a:r>
          </a:p>
        </p:txBody>
      </p:sp>
      <p:sp>
        <p:nvSpPr>
          <p:cNvPr id="16" name="slide-2-footer-number">
            <a:extLst>
              <a:ext uri="{FF2B5EF4-FFF2-40B4-BE49-F238E27FC236}">
                <a16:creationId xmlns:a16="http://schemas.microsoft.com/office/drawing/2014/main" id="{B5812BCD-8DAD-049D-7635-A399595EA380}"/>
              </a:ext>
            </a:extLst>
          </p:cNvPr>
          <p:cNvSpPr txBox="1"/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1350">
                <a:solidFill>
                  <a:srgbClr val="59657A"/>
                </a:solidFill>
                <a:latin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8559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3-title">
            <a:extLst>
              <a:ext uri="{FF2B5EF4-FFF2-40B4-BE49-F238E27FC236}">
                <a16:creationId xmlns:a16="http://schemas.microsoft.com/office/drawing/2014/main" id="{560F033C-F1C7-A05C-6A16-D8DB36F0DE34}"/>
              </a:ext>
            </a:extLst>
          </p:cNvPr>
          <p:cNvSpPr txBox="1"/>
          <p:nvPr/>
        </p:nvSpPr>
        <p:spPr>
          <a:xfrm>
            <a:off x="685800" y="457199"/>
            <a:ext cx="108204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18233A"/>
                </a:solidFill>
                <a:latin typeface="Arial" panose="020B0604020202020204" pitchFamily="34" charset="0"/>
              </a:rPr>
              <a:t>First-year Femineers build Creative Robotics</a:t>
            </a:r>
          </a:p>
        </p:txBody>
      </p:sp>
      <p:cxnSp>
        <p:nvCxnSpPr>
          <p:cNvPr id="3" name="slide-3-title-rule">
            <a:extLst>
              <a:ext uri="{FF2B5EF4-FFF2-40B4-BE49-F238E27FC236}">
                <a16:creationId xmlns:a16="http://schemas.microsoft.com/office/drawing/2014/main" id="{ADC6CBCA-F6E0-5F08-6324-123D21A6E035}"/>
              </a:ext>
            </a:extLst>
          </p:cNvPr>
          <p:cNvCxnSpPr/>
          <p:nvPr/>
        </p:nvCxnSpPr>
        <p:spPr>
          <a:xfrm>
            <a:off x="685800" y="1352550"/>
            <a:ext cx="10820400" cy="0"/>
          </a:xfrm>
          <a:prstGeom prst="line">
            <a:avLst/>
          </a:prstGeom>
          <a:ln w="14288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-3-kicker">
            <a:extLst>
              <a:ext uri="{FF2B5EF4-FFF2-40B4-BE49-F238E27FC236}">
                <a16:creationId xmlns:a16="http://schemas.microsoft.com/office/drawing/2014/main" id="{E4738DDF-78C2-E0CA-18FA-D5A934BEF6C6}"/>
              </a:ext>
            </a:extLst>
          </p:cNvPr>
          <p:cNvSpPr txBox="1"/>
          <p:nvPr/>
        </p:nvSpPr>
        <p:spPr>
          <a:xfrm>
            <a:off x="685800" y="1943099"/>
            <a:ext cx="4953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50" b="1">
                <a:solidFill>
                  <a:srgbClr val="0D6765"/>
                </a:solidFill>
                <a:latin typeface="Arial" panose="020B0604020202020204" pitchFamily="34" charset="0"/>
              </a:rPr>
              <a:t>TEAMS OF TWO</a:t>
            </a:r>
          </a:p>
        </p:txBody>
      </p:sp>
      <p:sp>
        <p:nvSpPr>
          <p:cNvPr id="5" name="slide-3-body">
            <a:extLst>
              <a:ext uri="{FF2B5EF4-FFF2-40B4-BE49-F238E27FC236}">
                <a16:creationId xmlns:a16="http://schemas.microsoft.com/office/drawing/2014/main" id="{4BCF9970-77FA-1C1D-8C98-F31CDB7D6754}"/>
              </a:ext>
            </a:extLst>
          </p:cNvPr>
          <p:cNvSpPr txBox="1"/>
          <p:nvPr/>
        </p:nvSpPr>
        <p:spPr>
          <a:xfrm>
            <a:off x="685800" y="2457449"/>
            <a:ext cx="5010150" cy="1885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75">
                <a:solidFill>
                  <a:srgbClr val="18233A"/>
                </a:solidFill>
                <a:latin typeface="Arial" panose="020B0604020202020204" pitchFamily="34" charset="0"/>
              </a:rPr>
              <a:t>Use sensors, lights, motion, sound, craft materials, and BirdBlox on an iPad to create an interactive invention for a future person or community.</a:t>
            </a:r>
          </a:p>
        </p:txBody>
      </p:sp>
      <p:sp>
        <p:nvSpPr>
          <p:cNvPr id="6" name="slide-3-callout">
            <a:extLst>
              <a:ext uri="{FF2B5EF4-FFF2-40B4-BE49-F238E27FC236}">
                <a16:creationId xmlns:a16="http://schemas.microsoft.com/office/drawing/2014/main" id="{3D00B549-1F28-C720-2EC0-0A16433CCFC3}"/>
              </a:ext>
            </a:extLst>
          </p:cNvPr>
          <p:cNvSpPr/>
          <p:nvPr/>
        </p:nvSpPr>
        <p:spPr>
          <a:xfrm>
            <a:off x="685800" y="4686300"/>
            <a:ext cx="4857750" cy="1066800"/>
          </a:xfrm>
          <a:prstGeom prst="rect">
            <a:avLst/>
          </a:prstGeom>
          <a:solidFill>
            <a:srgbClr val="EAF8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-3-callout-text">
            <a:extLst>
              <a:ext uri="{FF2B5EF4-FFF2-40B4-BE49-F238E27FC236}">
                <a16:creationId xmlns:a16="http://schemas.microsoft.com/office/drawing/2014/main" id="{E08F96A6-9376-9EF5-EE73-71CC2E9635BB}"/>
              </a:ext>
            </a:extLst>
          </p:cNvPr>
          <p:cNvSpPr txBox="1"/>
          <p:nvPr/>
        </p:nvSpPr>
        <p:spPr>
          <a:xfrm>
            <a:off x="933450" y="4876799"/>
            <a:ext cx="4362450" cy="723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sz="2100" b="1">
                <a:solidFill>
                  <a:srgbClr val="0D6765"/>
                </a:solidFill>
                <a:latin typeface="Arial" panose="020B0604020202020204" pitchFamily="34" charset="0"/>
              </a:rPr>
              <a:t>No prior engineering or coding experience is required.</a:t>
            </a:r>
          </a:p>
        </p:txBody>
      </p:sp>
      <p:sp>
        <p:nvSpPr>
          <p:cNvPr id="8" name="slide-3-image-backing">
            <a:extLst>
              <a:ext uri="{FF2B5EF4-FFF2-40B4-BE49-F238E27FC236}">
                <a16:creationId xmlns:a16="http://schemas.microsoft.com/office/drawing/2014/main" id="{386A0282-1859-9658-5379-1EB395BDC73F}"/>
              </a:ext>
            </a:extLst>
          </p:cNvPr>
          <p:cNvSpPr/>
          <p:nvPr/>
        </p:nvSpPr>
        <p:spPr>
          <a:xfrm>
            <a:off x="6000750" y="1676400"/>
            <a:ext cx="5505450" cy="4191000"/>
          </a:xfrm>
          <a:prstGeom prst="rect">
            <a:avLst/>
          </a:prstGeom>
          <a:solidFill>
            <a:srgbClr val="FFFDF8"/>
          </a:solidFill>
          <a:ln w="9525">
            <a:solidFill>
              <a:srgbClr val="DF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slide-3-robotics-image" descr="Creative robotics materials including sensors, LEDs, servos, wheels, a controller, and a tablet">
            <a:extLst>
              <a:ext uri="{FF2B5EF4-FFF2-40B4-BE49-F238E27FC236}">
                <a16:creationId xmlns:a16="http://schemas.microsoft.com/office/drawing/2014/main" id="{FF721068-28CC-51C7-F380-19F6635296A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50" y="1676400"/>
            <a:ext cx="5505450" cy="4191000"/>
          </a:xfrm>
          <a:prstGeom prst="rect">
            <a:avLst/>
          </a:prstGeom>
        </p:spPr>
      </p:pic>
      <p:sp>
        <p:nvSpPr>
          <p:cNvPr id="11" name="slide-3-footer-label">
            <a:extLst>
              <a:ext uri="{FF2B5EF4-FFF2-40B4-BE49-F238E27FC236}">
                <a16:creationId xmlns:a16="http://schemas.microsoft.com/office/drawing/2014/main" id="{BE3F38B6-D0AB-EA3C-E9BF-4A830F5A306E}"/>
              </a:ext>
            </a:extLst>
          </p:cNvPr>
          <p:cNvSpPr txBox="1"/>
          <p:nvPr/>
        </p:nvSpPr>
        <p:spPr>
          <a:xfrm>
            <a:off x="685800" y="638175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350" b="1">
                <a:solidFill>
                  <a:srgbClr val="59657A"/>
                </a:solidFill>
                <a:latin typeface="Arial" panose="020B0604020202020204" pitchFamily="34" charset="0"/>
              </a:rPr>
              <a:t>LIMITLESS • ROOM 14</a:t>
            </a:r>
          </a:p>
        </p:txBody>
      </p:sp>
      <p:sp>
        <p:nvSpPr>
          <p:cNvPr id="12" name="slide-3-footer-number">
            <a:extLst>
              <a:ext uri="{FF2B5EF4-FFF2-40B4-BE49-F238E27FC236}">
                <a16:creationId xmlns:a16="http://schemas.microsoft.com/office/drawing/2014/main" id="{24F6EA4F-39DC-B80E-D953-778EDEE83F44}"/>
              </a:ext>
            </a:extLst>
          </p:cNvPr>
          <p:cNvSpPr txBox="1"/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1350">
                <a:solidFill>
                  <a:srgbClr val="59657A"/>
                </a:solidFill>
                <a:latin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63127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4-title">
            <a:extLst>
              <a:ext uri="{FF2B5EF4-FFF2-40B4-BE49-F238E27FC236}">
                <a16:creationId xmlns:a16="http://schemas.microsoft.com/office/drawing/2014/main" id="{E138F8E3-4BEC-D604-F5E6-C4C57A3C538E}"/>
              </a:ext>
            </a:extLst>
          </p:cNvPr>
          <p:cNvSpPr txBox="1"/>
          <p:nvPr/>
        </p:nvSpPr>
        <p:spPr>
          <a:xfrm>
            <a:off x="685800" y="457199"/>
            <a:ext cx="108204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18233A"/>
                </a:solidFill>
                <a:latin typeface="Arial" panose="020B0604020202020204" pitchFamily="34" charset="0"/>
              </a:rPr>
              <a:t>No experience needed—just a willingness to try</a:t>
            </a:r>
          </a:p>
        </p:txBody>
      </p:sp>
      <p:cxnSp>
        <p:nvCxnSpPr>
          <p:cNvPr id="3" name="slide-4-title-rule">
            <a:extLst>
              <a:ext uri="{FF2B5EF4-FFF2-40B4-BE49-F238E27FC236}">
                <a16:creationId xmlns:a16="http://schemas.microsoft.com/office/drawing/2014/main" id="{531148B9-36EB-4C41-EF4D-C896B3B8A957}"/>
              </a:ext>
            </a:extLst>
          </p:cNvPr>
          <p:cNvCxnSpPr/>
          <p:nvPr/>
        </p:nvCxnSpPr>
        <p:spPr>
          <a:xfrm>
            <a:off x="685800" y="1352550"/>
            <a:ext cx="10820400" cy="0"/>
          </a:xfrm>
          <a:prstGeom prst="line">
            <a:avLst/>
          </a:prstGeom>
          <a:ln w="14288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lide-4-vertical-rule">
            <a:extLst>
              <a:ext uri="{FF2B5EF4-FFF2-40B4-BE49-F238E27FC236}">
                <a16:creationId xmlns:a16="http://schemas.microsoft.com/office/drawing/2014/main" id="{82C46A93-04CE-9FFB-6405-D15BF36ABF70}"/>
              </a:ext>
            </a:extLst>
          </p:cNvPr>
          <p:cNvCxnSpPr/>
          <p:nvPr/>
        </p:nvCxnSpPr>
        <p:spPr>
          <a:xfrm>
            <a:off x="6096000" y="1866900"/>
            <a:ext cx="0" cy="3733800"/>
          </a:xfrm>
          <a:prstGeom prst="line">
            <a:avLst/>
          </a:prstGeom>
          <a:ln w="19050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lide-4-horizontal-rule">
            <a:extLst>
              <a:ext uri="{FF2B5EF4-FFF2-40B4-BE49-F238E27FC236}">
                <a16:creationId xmlns:a16="http://schemas.microsoft.com/office/drawing/2014/main" id="{D6AF056A-8115-3708-01A1-0E6F59A80D7F}"/>
              </a:ext>
            </a:extLst>
          </p:cNvPr>
          <p:cNvCxnSpPr/>
          <p:nvPr/>
        </p:nvCxnSpPr>
        <p:spPr>
          <a:xfrm>
            <a:off x="685800" y="3733800"/>
            <a:ext cx="10820400" cy="0"/>
          </a:xfrm>
          <a:prstGeom prst="line">
            <a:avLst/>
          </a:prstGeom>
          <a:ln w="19050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-4-curiosity-title">
            <a:extLst>
              <a:ext uri="{FF2B5EF4-FFF2-40B4-BE49-F238E27FC236}">
                <a16:creationId xmlns:a16="http://schemas.microsoft.com/office/drawing/2014/main" id="{6072645C-FECC-F97C-B9B2-8BA73F5D99BE}"/>
              </a:ext>
            </a:extLst>
          </p:cNvPr>
          <p:cNvSpPr txBox="1"/>
          <p:nvPr/>
        </p:nvSpPr>
        <p:spPr>
          <a:xfrm>
            <a:off x="685800" y="2038349"/>
            <a:ext cx="4762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50" b="1">
                <a:solidFill>
                  <a:srgbClr val="EE6C58"/>
                </a:solidFill>
                <a:latin typeface="Arial" panose="020B0604020202020204" pitchFamily="34" charset="0"/>
              </a:rPr>
              <a:t>Curiosity</a:t>
            </a:r>
          </a:p>
        </p:txBody>
      </p:sp>
      <p:sp>
        <p:nvSpPr>
          <p:cNvPr id="7" name="slide-4-curiosity-body">
            <a:extLst>
              <a:ext uri="{FF2B5EF4-FFF2-40B4-BE49-F238E27FC236}">
                <a16:creationId xmlns:a16="http://schemas.microsoft.com/office/drawing/2014/main" id="{E6D19514-95F7-5CD2-33CB-070AB5D22C31}"/>
              </a:ext>
            </a:extLst>
          </p:cNvPr>
          <p:cNvSpPr txBox="1"/>
          <p:nvPr/>
        </p:nvSpPr>
        <p:spPr>
          <a:xfrm>
            <a:off x="685800" y="2647949"/>
            <a:ext cx="47625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50">
                <a:solidFill>
                  <a:srgbClr val="59657A"/>
                </a:solidFill>
                <a:latin typeface="Arial" panose="020B0604020202020204" pitchFamily="34" charset="0"/>
              </a:rPr>
              <a:t>Ask why, wonder what if, and notice problems worth solving.</a:t>
            </a:r>
          </a:p>
        </p:txBody>
      </p:sp>
      <p:sp>
        <p:nvSpPr>
          <p:cNvPr id="8" name="slide-4-creativity-title">
            <a:extLst>
              <a:ext uri="{FF2B5EF4-FFF2-40B4-BE49-F238E27FC236}">
                <a16:creationId xmlns:a16="http://schemas.microsoft.com/office/drawing/2014/main" id="{2B3FDEFE-F78E-68C0-BBE7-723160CA53CF}"/>
              </a:ext>
            </a:extLst>
          </p:cNvPr>
          <p:cNvSpPr txBox="1"/>
          <p:nvPr/>
        </p:nvSpPr>
        <p:spPr>
          <a:xfrm>
            <a:off x="6591300" y="2038349"/>
            <a:ext cx="4762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50" b="1">
                <a:solidFill>
                  <a:srgbClr val="F2BA49"/>
                </a:solidFill>
                <a:latin typeface="Arial" panose="020B0604020202020204" pitchFamily="34" charset="0"/>
              </a:rPr>
              <a:t>Creativity</a:t>
            </a:r>
          </a:p>
        </p:txBody>
      </p:sp>
      <p:sp>
        <p:nvSpPr>
          <p:cNvPr id="9" name="slide-4-creativity-body">
            <a:extLst>
              <a:ext uri="{FF2B5EF4-FFF2-40B4-BE49-F238E27FC236}">
                <a16:creationId xmlns:a16="http://schemas.microsoft.com/office/drawing/2014/main" id="{811DD161-BE0C-A77E-6C66-59337BC228D5}"/>
              </a:ext>
            </a:extLst>
          </p:cNvPr>
          <p:cNvSpPr txBox="1"/>
          <p:nvPr/>
        </p:nvSpPr>
        <p:spPr>
          <a:xfrm>
            <a:off x="6591300" y="2647949"/>
            <a:ext cx="47625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50">
                <a:solidFill>
                  <a:srgbClr val="59657A"/>
                </a:solidFill>
                <a:latin typeface="Arial" panose="020B0604020202020204" pitchFamily="34" charset="0"/>
              </a:rPr>
              <a:t>Make original connections and turn rough ideas into possibilities.</a:t>
            </a:r>
          </a:p>
        </p:txBody>
      </p:sp>
      <p:sp>
        <p:nvSpPr>
          <p:cNvPr id="10" name="slide-4-collaboration-title">
            <a:extLst>
              <a:ext uri="{FF2B5EF4-FFF2-40B4-BE49-F238E27FC236}">
                <a16:creationId xmlns:a16="http://schemas.microsoft.com/office/drawing/2014/main" id="{9B31FB57-F28B-72DE-827D-A68EBAF09420}"/>
              </a:ext>
            </a:extLst>
          </p:cNvPr>
          <p:cNvSpPr txBox="1"/>
          <p:nvPr/>
        </p:nvSpPr>
        <p:spPr>
          <a:xfrm>
            <a:off x="685800" y="4095749"/>
            <a:ext cx="4762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50" b="1">
                <a:solidFill>
                  <a:srgbClr val="168B88"/>
                </a:solidFill>
                <a:latin typeface="Arial" panose="020B0604020202020204" pitchFamily="34" charset="0"/>
              </a:rPr>
              <a:t>Collaboration</a:t>
            </a:r>
          </a:p>
        </p:txBody>
      </p:sp>
      <p:sp>
        <p:nvSpPr>
          <p:cNvPr id="11" name="slide-4-collaboration-body">
            <a:extLst>
              <a:ext uri="{FF2B5EF4-FFF2-40B4-BE49-F238E27FC236}">
                <a16:creationId xmlns:a16="http://schemas.microsoft.com/office/drawing/2014/main" id="{4DFDC80B-2A16-6960-8E7F-0EC93892A408}"/>
              </a:ext>
            </a:extLst>
          </p:cNvPr>
          <p:cNvSpPr txBox="1"/>
          <p:nvPr/>
        </p:nvSpPr>
        <p:spPr>
          <a:xfrm>
            <a:off x="685800" y="4705349"/>
            <a:ext cx="47625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50">
                <a:solidFill>
                  <a:srgbClr val="59657A"/>
                </a:solidFill>
                <a:latin typeface="Arial" panose="020B0604020202020204" pitchFamily="34" charset="0"/>
              </a:rPr>
              <a:t>Listen, contribute, and build with a partner who sees things differently.</a:t>
            </a:r>
          </a:p>
        </p:txBody>
      </p:sp>
      <p:sp>
        <p:nvSpPr>
          <p:cNvPr id="12" name="slide-4-persistence-title">
            <a:extLst>
              <a:ext uri="{FF2B5EF4-FFF2-40B4-BE49-F238E27FC236}">
                <a16:creationId xmlns:a16="http://schemas.microsoft.com/office/drawing/2014/main" id="{E2295120-300A-16B4-DFCF-20805B2FF4A9}"/>
              </a:ext>
            </a:extLst>
          </p:cNvPr>
          <p:cNvSpPr txBox="1"/>
          <p:nvPr/>
        </p:nvSpPr>
        <p:spPr>
          <a:xfrm>
            <a:off x="6591300" y="4095749"/>
            <a:ext cx="4762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50" b="1">
                <a:solidFill>
                  <a:srgbClr val="5F3DC4"/>
                </a:solidFill>
                <a:latin typeface="Arial" panose="020B0604020202020204" pitchFamily="34" charset="0"/>
              </a:rPr>
              <a:t>Persistence</a:t>
            </a:r>
          </a:p>
        </p:txBody>
      </p:sp>
      <p:sp>
        <p:nvSpPr>
          <p:cNvPr id="13" name="slide-4-persistence-body">
            <a:extLst>
              <a:ext uri="{FF2B5EF4-FFF2-40B4-BE49-F238E27FC236}">
                <a16:creationId xmlns:a16="http://schemas.microsoft.com/office/drawing/2014/main" id="{21BB3E33-1219-F069-D613-DB952620230B}"/>
              </a:ext>
            </a:extLst>
          </p:cNvPr>
          <p:cNvSpPr txBox="1"/>
          <p:nvPr/>
        </p:nvSpPr>
        <p:spPr>
          <a:xfrm>
            <a:off x="6591300" y="4705349"/>
            <a:ext cx="47625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950">
                <a:solidFill>
                  <a:srgbClr val="59657A"/>
                </a:solidFill>
                <a:latin typeface="Arial" panose="020B0604020202020204" pitchFamily="34" charset="0"/>
              </a:rPr>
              <a:t>Test, learn from what happened, and try again with a stronger idea.</a:t>
            </a:r>
          </a:p>
        </p:txBody>
      </p:sp>
      <p:sp>
        <p:nvSpPr>
          <p:cNvPr id="14" name="slide-4-bottom-note">
            <a:extLst>
              <a:ext uri="{FF2B5EF4-FFF2-40B4-BE49-F238E27FC236}">
                <a16:creationId xmlns:a16="http://schemas.microsoft.com/office/drawing/2014/main" id="{FB28F03B-9210-EE50-AD7B-BEB851908062}"/>
              </a:ext>
            </a:extLst>
          </p:cNvPr>
          <p:cNvSpPr txBox="1"/>
          <p:nvPr/>
        </p:nvSpPr>
        <p:spPr>
          <a:xfrm>
            <a:off x="685800" y="5810249"/>
            <a:ext cx="108204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725" b="1">
                <a:solidFill>
                  <a:srgbClr val="40218F"/>
                </a:solidFill>
                <a:latin typeface="Arial" panose="020B0604020202020204" pitchFamily="34" charset="0"/>
              </a:rPr>
              <a:t>These are the qualities mentors and teachers are looking for.</a:t>
            </a:r>
          </a:p>
        </p:txBody>
      </p:sp>
      <p:sp>
        <p:nvSpPr>
          <p:cNvPr id="15" name="slide-4-footer-label">
            <a:extLst>
              <a:ext uri="{FF2B5EF4-FFF2-40B4-BE49-F238E27FC236}">
                <a16:creationId xmlns:a16="http://schemas.microsoft.com/office/drawing/2014/main" id="{197C2AF9-5B86-8354-7E33-86311F93CAA7}"/>
              </a:ext>
            </a:extLst>
          </p:cNvPr>
          <p:cNvSpPr txBox="1"/>
          <p:nvPr/>
        </p:nvSpPr>
        <p:spPr>
          <a:xfrm>
            <a:off x="685800" y="638175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350" b="1">
                <a:solidFill>
                  <a:srgbClr val="59657A"/>
                </a:solidFill>
                <a:latin typeface="Arial" panose="020B0604020202020204" pitchFamily="34" charset="0"/>
              </a:rPr>
              <a:t>LIMITLESS • ROOM 14</a:t>
            </a:r>
          </a:p>
        </p:txBody>
      </p:sp>
      <p:sp>
        <p:nvSpPr>
          <p:cNvPr id="16" name="slide-4-footer-number">
            <a:extLst>
              <a:ext uri="{FF2B5EF4-FFF2-40B4-BE49-F238E27FC236}">
                <a16:creationId xmlns:a16="http://schemas.microsoft.com/office/drawing/2014/main" id="{E43CC52E-0874-1922-8142-8CAD1D99AA2F}"/>
              </a:ext>
            </a:extLst>
          </p:cNvPr>
          <p:cNvSpPr txBox="1"/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1350">
                <a:solidFill>
                  <a:srgbClr val="59657A"/>
                </a:solidFill>
                <a:latin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507008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5-title">
            <a:extLst>
              <a:ext uri="{FF2B5EF4-FFF2-40B4-BE49-F238E27FC236}">
                <a16:creationId xmlns:a16="http://schemas.microsoft.com/office/drawing/2014/main" id="{EC908C1F-C611-2FAF-1789-2A1952F94FB1}"/>
              </a:ext>
            </a:extLst>
          </p:cNvPr>
          <p:cNvSpPr txBox="1"/>
          <p:nvPr/>
        </p:nvSpPr>
        <p:spPr>
          <a:xfrm>
            <a:off x="685800" y="457199"/>
            <a:ext cx="108204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18233A"/>
                </a:solidFill>
                <a:latin typeface="Arial" panose="020B0604020202020204" pitchFamily="34" charset="0"/>
              </a:rPr>
              <a:t>Make a future need interactive</a:t>
            </a:r>
          </a:p>
        </p:txBody>
      </p:sp>
      <p:cxnSp>
        <p:nvCxnSpPr>
          <p:cNvPr id="3" name="slide-5-title-rule">
            <a:extLst>
              <a:ext uri="{FF2B5EF4-FFF2-40B4-BE49-F238E27FC236}">
                <a16:creationId xmlns:a16="http://schemas.microsoft.com/office/drawing/2014/main" id="{629FF963-90D3-29B6-CD1B-78E3238E2687}"/>
              </a:ext>
            </a:extLst>
          </p:cNvPr>
          <p:cNvCxnSpPr/>
          <p:nvPr/>
        </p:nvCxnSpPr>
        <p:spPr>
          <a:xfrm>
            <a:off x="685800" y="1352550"/>
            <a:ext cx="10820400" cy="0"/>
          </a:xfrm>
          <a:prstGeom prst="line">
            <a:avLst/>
          </a:prstGeom>
          <a:ln w="14288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-5-image-backing">
            <a:extLst>
              <a:ext uri="{FF2B5EF4-FFF2-40B4-BE49-F238E27FC236}">
                <a16:creationId xmlns:a16="http://schemas.microsoft.com/office/drawing/2014/main" id="{4446F732-9774-2991-8D68-93BCA5D641BC}"/>
              </a:ext>
            </a:extLst>
          </p:cNvPr>
          <p:cNvSpPr/>
          <p:nvPr/>
        </p:nvSpPr>
        <p:spPr>
          <a:xfrm>
            <a:off x="685800" y="1714500"/>
            <a:ext cx="5981700" cy="4229100"/>
          </a:xfrm>
          <a:prstGeom prst="rect">
            <a:avLst/>
          </a:prstGeom>
          <a:solidFill>
            <a:srgbClr val="FFFDF8"/>
          </a:solidFill>
          <a:ln w="9525">
            <a:solidFill>
              <a:srgbClr val="DF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lide-5-concepts-image" descr="Concept illustrations of interactive wearable and robotics projects">
            <a:extLst>
              <a:ext uri="{FF2B5EF4-FFF2-40B4-BE49-F238E27FC236}">
                <a16:creationId xmlns:a16="http://schemas.microsoft.com/office/drawing/2014/main" id="{3545F0B7-89BD-B229-3ED7-AB607F28772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14500"/>
            <a:ext cx="5981700" cy="4229100"/>
          </a:xfrm>
          <a:prstGeom prst="rect">
            <a:avLst/>
          </a:prstGeom>
        </p:spPr>
      </p:pic>
      <p:sp>
        <p:nvSpPr>
          <p:cNvPr id="7" name="slide-5-prompt">
            <a:extLst>
              <a:ext uri="{FF2B5EF4-FFF2-40B4-BE49-F238E27FC236}">
                <a16:creationId xmlns:a16="http://schemas.microsoft.com/office/drawing/2014/main" id="{C71C748C-5BA8-892C-4BB5-4CE5DB55BFB5}"/>
              </a:ext>
            </a:extLst>
          </p:cNvPr>
          <p:cNvSpPr txBox="1"/>
          <p:nvPr/>
        </p:nvSpPr>
        <p:spPr>
          <a:xfrm>
            <a:off x="7086600" y="1714499"/>
            <a:ext cx="4419600" cy="1028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50" b="1">
                <a:solidFill>
                  <a:srgbClr val="40218F"/>
                </a:solidFill>
                <a:latin typeface="Arial" panose="020B0604020202020204" pitchFamily="34" charset="0"/>
              </a:rPr>
              <a:t>If you could build something for your future community, what would it do?</a:t>
            </a:r>
          </a:p>
        </p:txBody>
      </p:sp>
      <p:cxnSp>
        <p:nvCxnSpPr>
          <p:cNvPr id="8" name="slide-5-rule-1">
            <a:extLst>
              <a:ext uri="{FF2B5EF4-FFF2-40B4-BE49-F238E27FC236}">
                <a16:creationId xmlns:a16="http://schemas.microsoft.com/office/drawing/2014/main" id="{E4652CC4-3EEA-4E90-B1DE-5FB0D8E4B933}"/>
              </a:ext>
            </a:extLst>
          </p:cNvPr>
          <p:cNvCxnSpPr/>
          <p:nvPr/>
        </p:nvCxnSpPr>
        <p:spPr>
          <a:xfrm>
            <a:off x="7086600" y="2971800"/>
            <a:ext cx="4419600" cy="0"/>
          </a:xfrm>
          <a:prstGeom prst="line">
            <a:avLst/>
          </a:prstGeom>
          <a:ln w="14288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lide-5-notice-number">
            <a:extLst>
              <a:ext uri="{FF2B5EF4-FFF2-40B4-BE49-F238E27FC236}">
                <a16:creationId xmlns:a16="http://schemas.microsoft.com/office/drawing/2014/main" id="{C5D3AE5B-88EA-24A9-496E-5652DAB72FCA}"/>
              </a:ext>
            </a:extLst>
          </p:cNvPr>
          <p:cNvSpPr txBox="1"/>
          <p:nvPr/>
        </p:nvSpPr>
        <p:spPr>
          <a:xfrm>
            <a:off x="7086600" y="3162299"/>
            <a:ext cx="457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50" b="1">
                <a:solidFill>
                  <a:srgbClr val="EE6C58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" name="slide-5-notice-heading">
            <a:extLst>
              <a:ext uri="{FF2B5EF4-FFF2-40B4-BE49-F238E27FC236}">
                <a16:creationId xmlns:a16="http://schemas.microsoft.com/office/drawing/2014/main" id="{094A11AA-1817-422D-CC12-35841B526A43}"/>
              </a:ext>
            </a:extLst>
          </p:cNvPr>
          <p:cNvSpPr txBox="1"/>
          <p:nvPr/>
        </p:nvSpPr>
        <p:spPr>
          <a:xfrm>
            <a:off x="7639050" y="3162299"/>
            <a:ext cx="31432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50" b="1">
                <a:solidFill>
                  <a:srgbClr val="18233A"/>
                </a:solidFill>
                <a:latin typeface="Arial" panose="020B0604020202020204" pitchFamily="34" charset="0"/>
              </a:rPr>
              <a:t>Notice</a:t>
            </a:r>
          </a:p>
        </p:txBody>
      </p:sp>
      <p:sp>
        <p:nvSpPr>
          <p:cNvPr id="11" name="slide-5-notice-body">
            <a:extLst>
              <a:ext uri="{FF2B5EF4-FFF2-40B4-BE49-F238E27FC236}">
                <a16:creationId xmlns:a16="http://schemas.microsoft.com/office/drawing/2014/main" id="{9E053283-2608-A224-1DB9-5AAB2EAAF693}"/>
              </a:ext>
            </a:extLst>
          </p:cNvPr>
          <p:cNvSpPr txBox="1"/>
          <p:nvPr/>
        </p:nvSpPr>
        <p:spPr>
          <a:xfrm>
            <a:off x="7639050" y="3657599"/>
            <a:ext cx="333375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25">
                <a:solidFill>
                  <a:srgbClr val="59657A"/>
                </a:solidFill>
                <a:latin typeface="Arial" panose="020B0604020202020204" pitchFamily="34" charset="0"/>
              </a:rPr>
              <a:t>A sensor detects light, sound, distance, or a dial.</a:t>
            </a:r>
          </a:p>
        </p:txBody>
      </p:sp>
      <p:cxnSp>
        <p:nvCxnSpPr>
          <p:cNvPr id="12" name="slide-5-rule-2">
            <a:extLst>
              <a:ext uri="{FF2B5EF4-FFF2-40B4-BE49-F238E27FC236}">
                <a16:creationId xmlns:a16="http://schemas.microsoft.com/office/drawing/2014/main" id="{F24CB41B-AE32-E355-1BBB-0CF31EC3F10E}"/>
              </a:ext>
            </a:extLst>
          </p:cNvPr>
          <p:cNvCxnSpPr/>
          <p:nvPr/>
        </p:nvCxnSpPr>
        <p:spPr>
          <a:xfrm>
            <a:off x="7086600" y="4267200"/>
            <a:ext cx="4419600" cy="0"/>
          </a:xfrm>
          <a:prstGeom prst="line">
            <a:avLst/>
          </a:prstGeom>
          <a:ln w="14288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lide-5-decide-number">
            <a:extLst>
              <a:ext uri="{FF2B5EF4-FFF2-40B4-BE49-F238E27FC236}">
                <a16:creationId xmlns:a16="http://schemas.microsoft.com/office/drawing/2014/main" id="{BEF1ADCB-A35A-756A-874B-128F1F06C032}"/>
              </a:ext>
            </a:extLst>
          </p:cNvPr>
          <p:cNvSpPr txBox="1"/>
          <p:nvPr/>
        </p:nvSpPr>
        <p:spPr>
          <a:xfrm>
            <a:off x="7086600" y="4438649"/>
            <a:ext cx="4572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550" b="1">
                <a:solidFill>
                  <a:srgbClr val="168B88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" name="slide-5-decide-heading">
            <a:extLst>
              <a:ext uri="{FF2B5EF4-FFF2-40B4-BE49-F238E27FC236}">
                <a16:creationId xmlns:a16="http://schemas.microsoft.com/office/drawing/2014/main" id="{57574169-7B67-9C03-2D18-0FB650550DC3}"/>
              </a:ext>
            </a:extLst>
          </p:cNvPr>
          <p:cNvSpPr txBox="1"/>
          <p:nvPr/>
        </p:nvSpPr>
        <p:spPr>
          <a:xfrm>
            <a:off x="7639050" y="4438649"/>
            <a:ext cx="31432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250" b="1">
                <a:solidFill>
                  <a:srgbClr val="18233A"/>
                </a:solidFill>
                <a:latin typeface="Arial" panose="020B0604020202020204" pitchFamily="34" charset="0"/>
              </a:rPr>
              <a:t>Decide</a:t>
            </a:r>
          </a:p>
        </p:txBody>
      </p:sp>
      <p:sp>
        <p:nvSpPr>
          <p:cNvPr id="15" name="slide-5-decide-body">
            <a:extLst>
              <a:ext uri="{FF2B5EF4-FFF2-40B4-BE49-F238E27FC236}">
                <a16:creationId xmlns:a16="http://schemas.microsoft.com/office/drawing/2014/main" id="{09C38257-8FB1-3A19-8E93-0E17983CD2E8}"/>
              </a:ext>
            </a:extLst>
          </p:cNvPr>
          <p:cNvSpPr txBox="1"/>
          <p:nvPr/>
        </p:nvSpPr>
        <p:spPr>
          <a:xfrm>
            <a:off x="7639050" y="4933949"/>
            <a:ext cx="333375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25">
                <a:solidFill>
                  <a:srgbClr val="59657A"/>
                </a:solidFill>
                <a:latin typeface="Arial" panose="020B0604020202020204" pitchFamily="34" charset="0"/>
              </a:rPr>
              <a:t>Your BirdBlox program chooses what happens next.</a:t>
            </a:r>
          </a:p>
        </p:txBody>
      </p:sp>
      <p:cxnSp>
        <p:nvCxnSpPr>
          <p:cNvPr id="16" name="slide-5-rule-3">
            <a:extLst>
              <a:ext uri="{FF2B5EF4-FFF2-40B4-BE49-F238E27FC236}">
                <a16:creationId xmlns:a16="http://schemas.microsoft.com/office/drawing/2014/main" id="{63D1C5BA-C788-8CB9-3B22-EFD49C851BA2}"/>
              </a:ext>
            </a:extLst>
          </p:cNvPr>
          <p:cNvCxnSpPr/>
          <p:nvPr/>
        </p:nvCxnSpPr>
        <p:spPr>
          <a:xfrm>
            <a:off x="7086600" y="5524500"/>
            <a:ext cx="4419600" cy="0"/>
          </a:xfrm>
          <a:prstGeom prst="line">
            <a:avLst/>
          </a:prstGeom>
          <a:ln w="14288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lide-5-respond">
            <a:extLst>
              <a:ext uri="{FF2B5EF4-FFF2-40B4-BE49-F238E27FC236}">
                <a16:creationId xmlns:a16="http://schemas.microsoft.com/office/drawing/2014/main" id="{E479CAA4-9FDD-9E4D-AAB7-DDA528167E5B}"/>
              </a:ext>
            </a:extLst>
          </p:cNvPr>
          <p:cNvSpPr txBox="1"/>
          <p:nvPr/>
        </p:nvSpPr>
        <p:spPr>
          <a:xfrm>
            <a:off x="7086600" y="5619749"/>
            <a:ext cx="4419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725" b="1">
                <a:solidFill>
                  <a:srgbClr val="5F3DC4"/>
                </a:solidFill>
                <a:latin typeface="Arial" panose="020B0604020202020204" pitchFamily="34" charset="0"/>
              </a:rPr>
              <a:t>3   Respond — lights, motion, or sound make the idea come alive.</a:t>
            </a:r>
          </a:p>
        </p:txBody>
      </p:sp>
      <p:sp>
        <p:nvSpPr>
          <p:cNvPr id="18" name="slide-5-footer-label">
            <a:extLst>
              <a:ext uri="{FF2B5EF4-FFF2-40B4-BE49-F238E27FC236}">
                <a16:creationId xmlns:a16="http://schemas.microsoft.com/office/drawing/2014/main" id="{3E229E8B-D591-2478-B4AB-CB4F14D2E7E2}"/>
              </a:ext>
            </a:extLst>
          </p:cNvPr>
          <p:cNvSpPr txBox="1"/>
          <p:nvPr/>
        </p:nvSpPr>
        <p:spPr>
          <a:xfrm>
            <a:off x="685800" y="638175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350" b="1">
                <a:solidFill>
                  <a:srgbClr val="59657A"/>
                </a:solidFill>
                <a:latin typeface="Arial" panose="020B0604020202020204" pitchFamily="34" charset="0"/>
              </a:rPr>
              <a:t>LIMITLESS • ROOM 14</a:t>
            </a:r>
          </a:p>
        </p:txBody>
      </p:sp>
      <p:sp>
        <p:nvSpPr>
          <p:cNvPr id="19" name="slide-5-footer-number">
            <a:extLst>
              <a:ext uri="{FF2B5EF4-FFF2-40B4-BE49-F238E27FC236}">
                <a16:creationId xmlns:a16="http://schemas.microsoft.com/office/drawing/2014/main" id="{87EB3ED9-1B08-3C88-FA80-53361C508EA7}"/>
              </a:ext>
            </a:extLst>
          </p:cNvPr>
          <p:cNvSpPr txBox="1"/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1350">
                <a:solidFill>
                  <a:srgbClr val="59657A"/>
                </a:solidFill>
                <a:latin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39191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6-title">
            <a:extLst>
              <a:ext uri="{FF2B5EF4-FFF2-40B4-BE49-F238E27FC236}">
                <a16:creationId xmlns:a16="http://schemas.microsoft.com/office/drawing/2014/main" id="{7A1B3D73-D617-1CB3-90CD-6555CB9721C9}"/>
              </a:ext>
            </a:extLst>
          </p:cNvPr>
          <p:cNvSpPr txBox="1"/>
          <p:nvPr/>
        </p:nvSpPr>
        <p:spPr>
          <a:xfrm>
            <a:off x="685800" y="457199"/>
            <a:ext cx="10820400" cy="781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>
                <a:solidFill>
                  <a:srgbClr val="18233A"/>
                </a:solidFill>
                <a:latin typeface="Arial" panose="020B0604020202020204" pitchFamily="34" charset="0"/>
              </a:rPr>
              <a:t>The commitment is clear—and worth it</a:t>
            </a:r>
          </a:p>
        </p:txBody>
      </p:sp>
      <p:cxnSp>
        <p:nvCxnSpPr>
          <p:cNvPr id="3" name="slide-6-title-rule">
            <a:extLst>
              <a:ext uri="{FF2B5EF4-FFF2-40B4-BE49-F238E27FC236}">
                <a16:creationId xmlns:a16="http://schemas.microsoft.com/office/drawing/2014/main" id="{28EF7E7B-BEC7-061A-B731-A414EE6F5CAF}"/>
              </a:ext>
            </a:extLst>
          </p:cNvPr>
          <p:cNvCxnSpPr/>
          <p:nvPr/>
        </p:nvCxnSpPr>
        <p:spPr>
          <a:xfrm>
            <a:off x="685800" y="1352550"/>
            <a:ext cx="10820400" cy="0"/>
          </a:xfrm>
          <a:prstGeom prst="line">
            <a:avLst/>
          </a:prstGeom>
          <a:ln w="14288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lide-6-timeline">
            <a:extLst>
              <a:ext uri="{FF2B5EF4-FFF2-40B4-BE49-F238E27FC236}">
                <a16:creationId xmlns:a16="http://schemas.microsoft.com/office/drawing/2014/main" id="{EB8C122C-0AFC-9F93-FB5B-759334D36914}"/>
              </a:ext>
            </a:extLst>
          </p:cNvPr>
          <p:cNvCxnSpPr/>
          <p:nvPr/>
        </p:nvCxnSpPr>
        <p:spPr>
          <a:xfrm>
            <a:off x="1066800" y="3105150"/>
            <a:ext cx="10058400" cy="0"/>
          </a:xfrm>
          <a:prstGeom prst="line">
            <a:avLst/>
          </a:prstGeom>
          <a:ln w="38100">
            <a:solidFill>
              <a:srgbClr val="DFE3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-6-number-1">
            <a:extLst>
              <a:ext uri="{FF2B5EF4-FFF2-40B4-BE49-F238E27FC236}">
                <a16:creationId xmlns:a16="http://schemas.microsoft.com/office/drawing/2014/main" id="{4961D4E8-4B4E-2E09-8487-A848D73DDA0C}"/>
              </a:ext>
            </a:extLst>
          </p:cNvPr>
          <p:cNvSpPr txBox="1"/>
          <p:nvPr/>
        </p:nvSpPr>
        <p:spPr>
          <a:xfrm>
            <a:off x="1066800" y="1847849"/>
            <a:ext cx="1238250" cy="857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650" b="1">
                <a:solidFill>
                  <a:srgbClr val="168B88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6" name="slide-6-title-1">
            <a:extLst>
              <a:ext uri="{FF2B5EF4-FFF2-40B4-BE49-F238E27FC236}">
                <a16:creationId xmlns:a16="http://schemas.microsoft.com/office/drawing/2014/main" id="{C4979194-5E68-D8D2-BCBB-E10794F54D9C}"/>
              </a:ext>
            </a:extLst>
          </p:cNvPr>
          <p:cNvSpPr txBox="1"/>
          <p:nvPr/>
        </p:nvSpPr>
        <p:spPr>
          <a:xfrm>
            <a:off x="1943100" y="2000249"/>
            <a:ext cx="20955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18233A"/>
                </a:solidFill>
                <a:latin typeface="Arial" panose="020B0604020202020204" pitchFamily="34" charset="0"/>
              </a:rPr>
              <a:t>full workdays</a:t>
            </a:r>
          </a:p>
        </p:txBody>
      </p:sp>
      <p:sp>
        <p:nvSpPr>
          <p:cNvPr id="7" name="slide-6-node-1">
            <a:extLst>
              <a:ext uri="{FF2B5EF4-FFF2-40B4-BE49-F238E27FC236}">
                <a16:creationId xmlns:a16="http://schemas.microsoft.com/office/drawing/2014/main" id="{41AFF14D-E224-85A0-4507-AE61A1014FA4}"/>
              </a:ext>
            </a:extLst>
          </p:cNvPr>
          <p:cNvSpPr/>
          <p:nvPr/>
        </p:nvSpPr>
        <p:spPr>
          <a:xfrm>
            <a:off x="1143000" y="2952750"/>
            <a:ext cx="304800" cy="304800"/>
          </a:xfrm>
          <a:prstGeom prst="ellipse">
            <a:avLst/>
          </a:prstGeom>
          <a:solidFill>
            <a:srgbClr val="168B88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-6-dates-1">
            <a:extLst>
              <a:ext uri="{FF2B5EF4-FFF2-40B4-BE49-F238E27FC236}">
                <a16:creationId xmlns:a16="http://schemas.microsoft.com/office/drawing/2014/main" id="{5C1B1ACC-6966-7C7B-6675-A4E7BB9277D9}"/>
              </a:ext>
            </a:extLst>
          </p:cNvPr>
          <p:cNvSpPr txBox="1"/>
          <p:nvPr/>
        </p:nvSpPr>
        <p:spPr>
          <a:xfrm>
            <a:off x="1066800" y="3562349"/>
            <a:ext cx="29718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59657A"/>
                </a:solidFill>
                <a:latin typeface="Arial" panose="020B0604020202020204" pitchFamily="34" charset="0"/>
              </a:rPr>
              <a:t>Sept. 14 • Nov. 16 • Dec. 7</a:t>
            </a:r>
          </a:p>
          <a:p>
            <a:r>
              <a:rPr lang="en-US">
                <a:solidFill>
                  <a:srgbClr val="59657A"/>
                </a:solidFill>
                <a:latin typeface="Arial" panose="020B0604020202020204" pitchFamily="34" charset="0"/>
              </a:rPr>
              <a:t>Jan. 25 • Feb. 22</a:t>
            </a:r>
          </a:p>
        </p:txBody>
      </p:sp>
      <p:sp>
        <p:nvSpPr>
          <p:cNvPr id="9" name="slide-6-number-2">
            <a:extLst>
              <a:ext uri="{FF2B5EF4-FFF2-40B4-BE49-F238E27FC236}">
                <a16:creationId xmlns:a16="http://schemas.microsoft.com/office/drawing/2014/main" id="{B75874BA-E4C9-9320-055E-ECBCC52445AE}"/>
              </a:ext>
            </a:extLst>
          </p:cNvPr>
          <p:cNvSpPr txBox="1"/>
          <p:nvPr/>
        </p:nvSpPr>
        <p:spPr>
          <a:xfrm>
            <a:off x="4648200" y="1847849"/>
            <a:ext cx="1238250" cy="857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650" b="1">
                <a:solidFill>
                  <a:srgbClr val="EE6C58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0" name="slide-6-title-2">
            <a:extLst>
              <a:ext uri="{FF2B5EF4-FFF2-40B4-BE49-F238E27FC236}">
                <a16:creationId xmlns:a16="http://schemas.microsoft.com/office/drawing/2014/main" id="{7569392E-2091-D1C2-1B35-5D99B1F45E01}"/>
              </a:ext>
            </a:extLst>
          </p:cNvPr>
          <p:cNvSpPr txBox="1"/>
          <p:nvPr/>
        </p:nvSpPr>
        <p:spPr>
          <a:xfrm>
            <a:off x="5524500" y="2000249"/>
            <a:ext cx="20955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18233A"/>
                </a:solidFill>
                <a:latin typeface="Arial" panose="020B0604020202020204" pitchFamily="34" charset="0"/>
              </a:rPr>
              <a:t>lunch checkpoints</a:t>
            </a:r>
          </a:p>
        </p:txBody>
      </p:sp>
      <p:sp>
        <p:nvSpPr>
          <p:cNvPr id="11" name="slide-6-node-2">
            <a:extLst>
              <a:ext uri="{FF2B5EF4-FFF2-40B4-BE49-F238E27FC236}">
                <a16:creationId xmlns:a16="http://schemas.microsoft.com/office/drawing/2014/main" id="{C8B646F9-611C-BFB7-89F1-AEEDC0BE1EAE}"/>
              </a:ext>
            </a:extLst>
          </p:cNvPr>
          <p:cNvSpPr/>
          <p:nvPr/>
        </p:nvSpPr>
        <p:spPr>
          <a:xfrm>
            <a:off x="4724400" y="2952750"/>
            <a:ext cx="304800" cy="304800"/>
          </a:xfrm>
          <a:prstGeom prst="ellipse">
            <a:avLst/>
          </a:prstGeom>
          <a:solidFill>
            <a:srgbClr val="EE6C58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-6-dates-2">
            <a:extLst>
              <a:ext uri="{FF2B5EF4-FFF2-40B4-BE49-F238E27FC236}">
                <a16:creationId xmlns:a16="http://schemas.microsoft.com/office/drawing/2014/main" id="{E92972DC-D87E-C17D-C7A8-301FFA59821C}"/>
              </a:ext>
            </a:extLst>
          </p:cNvPr>
          <p:cNvSpPr txBox="1"/>
          <p:nvPr/>
        </p:nvSpPr>
        <p:spPr>
          <a:xfrm>
            <a:off x="4648200" y="3562349"/>
            <a:ext cx="29718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59657A"/>
                </a:solidFill>
                <a:latin typeface="Arial" panose="020B0604020202020204" pitchFamily="34" charset="0"/>
              </a:rPr>
              <a:t>Oct. 21 • Jan. 13 • Feb. 10</a:t>
            </a:r>
          </a:p>
        </p:txBody>
      </p:sp>
      <p:sp>
        <p:nvSpPr>
          <p:cNvPr id="13" name="slide-6-number-3">
            <a:extLst>
              <a:ext uri="{FF2B5EF4-FFF2-40B4-BE49-F238E27FC236}">
                <a16:creationId xmlns:a16="http://schemas.microsoft.com/office/drawing/2014/main" id="{8746570D-46EE-3CA2-28DC-2C2CDE540D96}"/>
              </a:ext>
            </a:extLst>
          </p:cNvPr>
          <p:cNvSpPr txBox="1"/>
          <p:nvPr/>
        </p:nvSpPr>
        <p:spPr>
          <a:xfrm>
            <a:off x="8229600" y="1847849"/>
            <a:ext cx="1238250" cy="857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4650" b="1">
                <a:solidFill>
                  <a:srgbClr val="5F3DC4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4" name="slide-6-title-3">
            <a:extLst>
              <a:ext uri="{FF2B5EF4-FFF2-40B4-BE49-F238E27FC236}">
                <a16:creationId xmlns:a16="http://schemas.microsoft.com/office/drawing/2014/main" id="{F0D158B0-B357-2E88-CFB6-0CA1AC7CB9D7}"/>
              </a:ext>
            </a:extLst>
          </p:cNvPr>
          <p:cNvSpPr txBox="1"/>
          <p:nvPr/>
        </p:nvSpPr>
        <p:spPr>
          <a:xfrm>
            <a:off x="9105900" y="2000249"/>
            <a:ext cx="20955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 b="1">
                <a:solidFill>
                  <a:srgbClr val="18233A"/>
                </a:solidFill>
                <a:latin typeface="Arial" panose="020B0604020202020204" pitchFamily="34" charset="0"/>
              </a:rPr>
              <a:t>public showcases</a:t>
            </a:r>
          </a:p>
        </p:txBody>
      </p:sp>
      <p:sp>
        <p:nvSpPr>
          <p:cNvPr id="15" name="slide-6-node-3">
            <a:extLst>
              <a:ext uri="{FF2B5EF4-FFF2-40B4-BE49-F238E27FC236}">
                <a16:creationId xmlns:a16="http://schemas.microsoft.com/office/drawing/2014/main" id="{7E55FB52-A18B-9D02-6076-4B44BE7091F3}"/>
              </a:ext>
            </a:extLst>
          </p:cNvPr>
          <p:cNvSpPr/>
          <p:nvPr/>
        </p:nvSpPr>
        <p:spPr>
          <a:xfrm>
            <a:off x="8305800" y="2952750"/>
            <a:ext cx="304800" cy="304800"/>
          </a:xfrm>
          <a:prstGeom prst="ellipse">
            <a:avLst/>
          </a:prstGeom>
          <a:solidFill>
            <a:srgbClr val="5F3DC4"/>
          </a:solidFill>
          <a:ln w="381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lide-6-dates-3">
            <a:extLst>
              <a:ext uri="{FF2B5EF4-FFF2-40B4-BE49-F238E27FC236}">
                <a16:creationId xmlns:a16="http://schemas.microsoft.com/office/drawing/2014/main" id="{13216544-6B2A-C291-37F0-2F390854EB72}"/>
              </a:ext>
            </a:extLst>
          </p:cNvPr>
          <p:cNvSpPr txBox="1"/>
          <p:nvPr/>
        </p:nvSpPr>
        <p:spPr>
          <a:xfrm>
            <a:off x="8229600" y="3562349"/>
            <a:ext cx="29718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>
                <a:solidFill>
                  <a:srgbClr val="59657A"/>
                </a:solidFill>
                <a:latin typeface="Arial" panose="020B0604020202020204" pitchFamily="34" charset="0"/>
              </a:rPr>
              <a:t>Stauffer Gala • March 1</a:t>
            </a:r>
          </a:p>
          <a:p>
            <a:r>
              <a:rPr lang="en-US">
                <a:solidFill>
                  <a:srgbClr val="59657A"/>
                </a:solidFill>
                <a:latin typeface="Arial" panose="020B0604020202020204" pitchFamily="34" charset="0"/>
              </a:rPr>
              <a:t>District Gala • March 18</a:t>
            </a:r>
          </a:p>
        </p:txBody>
      </p:sp>
      <p:sp>
        <p:nvSpPr>
          <p:cNvPr id="17" name="slide-6-room-band">
            <a:extLst>
              <a:ext uri="{FF2B5EF4-FFF2-40B4-BE49-F238E27FC236}">
                <a16:creationId xmlns:a16="http://schemas.microsoft.com/office/drawing/2014/main" id="{4B713818-A4A6-8D00-9082-8DE8DF75D44B}"/>
              </a:ext>
            </a:extLst>
          </p:cNvPr>
          <p:cNvSpPr/>
          <p:nvPr/>
        </p:nvSpPr>
        <p:spPr>
          <a:xfrm>
            <a:off x="685800" y="5162550"/>
            <a:ext cx="10820400" cy="800100"/>
          </a:xfrm>
          <a:prstGeom prst="rect">
            <a:avLst/>
          </a:prstGeom>
          <a:solidFill>
            <a:srgbClr val="F2ED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lide-6-room-message">
            <a:extLst>
              <a:ext uri="{FF2B5EF4-FFF2-40B4-BE49-F238E27FC236}">
                <a16:creationId xmlns:a16="http://schemas.microsoft.com/office/drawing/2014/main" id="{F6136A22-A1C4-2F19-876D-F31ECB5A4218}"/>
              </a:ext>
            </a:extLst>
          </p:cNvPr>
          <p:cNvSpPr txBox="1"/>
          <p:nvPr/>
        </p:nvSpPr>
        <p:spPr>
          <a:xfrm>
            <a:off x="933450" y="5257799"/>
            <a:ext cx="10325100" cy="647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1875" b="1">
                <a:solidFill>
                  <a:srgbClr val="40218F"/>
                </a:solidFill>
                <a:latin typeface="Arial" panose="020B0604020202020204" pitchFamily="34" charset="0"/>
              </a:rPr>
              <a:t>Room 14 is home base. Students also plan, document, test, and make up missed classwork between sessions.</a:t>
            </a:r>
          </a:p>
        </p:txBody>
      </p:sp>
      <p:sp>
        <p:nvSpPr>
          <p:cNvPr id="19" name="slide-6-footer-label">
            <a:extLst>
              <a:ext uri="{FF2B5EF4-FFF2-40B4-BE49-F238E27FC236}">
                <a16:creationId xmlns:a16="http://schemas.microsoft.com/office/drawing/2014/main" id="{9C509A30-63FD-CA56-55E5-EBE7D1F984A1}"/>
              </a:ext>
            </a:extLst>
          </p:cNvPr>
          <p:cNvSpPr txBox="1"/>
          <p:nvPr/>
        </p:nvSpPr>
        <p:spPr>
          <a:xfrm>
            <a:off x="685800" y="638175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350" b="1">
                <a:solidFill>
                  <a:srgbClr val="59657A"/>
                </a:solidFill>
                <a:latin typeface="Arial" panose="020B0604020202020204" pitchFamily="34" charset="0"/>
              </a:rPr>
              <a:t>LIMITLESS • ROOM 14</a:t>
            </a:r>
          </a:p>
        </p:txBody>
      </p:sp>
      <p:sp>
        <p:nvSpPr>
          <p:cNvPr id="20" name="slide-6-footer-number">
            <a:extLst>
              <a:ext uri="{FF2B5EF4-FFF2-40B4-BE49-F238E27FC236}">
                <a16:creationId xmlns:a16="http://schemas.microsoft.com/office/drawing/2014/main" id="{09C6D901-06FD-B9AF-D426-F5965A5DBACD}"/>
              </a:ext>
            </a:extLst>
          </p:cNvPr>
          <p:cNvSpPr txBox="1"/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1350">
                <a:solidFill>
                  <a:srgbClr val="59657A"/>
                </a:solidFill>
                <a:latin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36305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-7-accent-bar">
            <a:extLst>
              <a:ext uri="{FF2B5EF4-FFF2-40B4-BE49-F238E27FC236}">
                <a16:creationId xmlns:a16="http://schemas.microsoft.com/office/drawing/2014/main" id="{C7AD8F1F-3522-7FFE-02F9-6299526375C5}"/>
              </a:ext>
            </a:extLst>
          </p:cNvPr>
          <p:cNvSpPr/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E6C5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-7-eyebrow">
            <a:extLst>
              <a:ext uri="{FF2B5EF4-FFF2-40B4-BE49-F238E27FC236}">
                <a16:creationId xmlns:a16="http://schemas.microsoft.com/office/drawing/2014/main" id="{950094B9-B538-A7FB-E31B-51D1B4F54C8D}"/>
              </a:ext>
            </a:extLst>
          </p:cNvPr>
          <p:cNvSpPr txBox="1"/>
          <p:nvPr/>
        </p:nvSpPr>
        <p:spPr>
          <a:xfrm>
            <a:off x="685800" y="647699"/>
            <a:ext cx="47625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650" b="1">
                <a:solidFill>
                  <a:srgbClr val="0D6765"/>
                </a:solidFill>
                <a:latin typeface="Arial" panose="020B0604020202020204" pitchFamily="34" charset="0"/>
              </a:rPr>
              <a:t>YOUR NEXT STEP</a:t>
            </a:r>
          </a:p>
        </p:txBody>
      </p:sp>
      <p:sp>
        <p:nvSpPr>
          <p:cNvPr id="4" name="slide-7-title">
            <a:extLst>
              <a:ext uri="{FF2B5EF4-FFF2-40B4-BE49-F238E27FC236}">
                <a16:creationId xmlns:a16="http://schemas.microsoft.com/office/drawing/2014/main" id="{5509B66F-2C0D-6B9F-AC55-5988DBC3D03C}"/>
              </a:ext>
            </a:extLst>
          </p:cNvPr>
          <p:cNvSpPr txBox="1"/>
          <p:nvPr/>
        </p:nvSpPr>
        <p:spPr>
          <a:xfrm>
            <a:off x="685800" y="1257299"/>
            <a:ext cx="5334000" cy="16192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5250" b="1">
                <a:solidFill>
                  <a:srgbClr val="18233A"/>
                </a:solidFill>
                <a:latin typeface="Arial" panose="020B0604020202020204" pitchFamily="34" charset="0"/>
              </a:rPr>
              <a:t>Apply by</a:t>
            </a:r>
          </a:p>
          <a:p>
            <a:r>
              <a:rPr lang="en-US" sz="5250" b="1">
                <a:solidFill>
                  <a:srgbClr val="18233A"/>
                </a:solidFill>
                <a:latin typeface="Arial" panose="020B0604020202020204" pitchFamily="34" charset="0"/>
              </a:rPr>
              <a:t>September 4</a:t>
            </a:r>
          </a:p>
        </p:txBody>
      </p:sp>
      <p:sp>
        <p:nvSpPr>
          <p:cNvPr id="5" name="slide-7-steps">
            <a:extLst>
              <a:ext uri="{FF2B5EF4-FFF2-40B4-BE49-F238E27FC236}">
                <a16:creationId xmlns:a16="http://schemas.microsoft.com/office/drawing/2014/main" id="{5121F1DD-2EA0-7A79-087B-8594F4108D42}"/>
              </a:ext>
            </a:extLst>
          </p:cNvPr>
          <p:cNvSpPr txBox="1"/>
          <p:nvPr/>
        </p:nvSpPr>
        <p:spPr>
          <a:xfrm>
            <a:off x="685800" y="3314699"/>
            <a:ext cx="5334000" cy="1466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2100">
                <a:solidFill>
                  <a:srgbClr val="18233A"/>
                </a:solidFill>
                <a:latin typeface="Arial" panose="020B0604020202020204" pitchFamily="34" charset="0"/>
              </a:rPr>
              <a:t>1. Scan the recruitment page.</a:t>
            </a:r>
          </a:p>
          <a:p>
            <a:r>
              <a:rPr lang="en-US" sz="2100">
                <a:solidFill>
                  <a:srgbClr val="18233A"/>
                </a:solidFill>
                <a:latin typeface="Arial" panose="020B0604020202020204" pitchFamily="34" charset="0"/>
              </a:rPr>
              <a:t>2. Complete the first-year application.</a:t>
            </a:r>
          </a:p>
          <a:p>
            <a:r>
              <a:rPr lang="en-US" sz="2100">
                <a:solidFill>
                  <a:srgbClr val="18233A"/>
                </a:solidFill>
                <a:latin typeface="Arial" panose="020B0604020202020204" pitchFamily="34" charset="0"/>
              </a:rPr>
              <a:t>3. Review the commitment with your family.</a:t>
            </a:r>
          </a:p>
        </p:txBody>
      </p:sp>
      <p:sp>
        <p:nvSpPr>
          <p:cNvPr id="6" name="slide-7-callout">
            <a:extLst>
              <a:ext uri="{FF2B5EF4-FFF2-40B4-BE49-F238E27FC236}">
                <a16:creationId xmlns:a16="http://schemas.microsoft.com/office/drawing/2014/main" id="{52A4932D-5EBC-3E11-C325-30398D210A20}"/>
              </a:ext>
            </a:extLst>
          </p:cNvPr>
          <p:cNvSpPr/>
          <p:nvPr/>
        </p:nvSpPr>
        <p:spPr>
          <a:xfrm>
            <a:off x="685800" y="5105400"/>
            <a:ext cx="5334000" cy="742950"/>
          </a:xfrm>
          <a:prstGeom prst="rect">
            <a:avLst/>
          </a:prstGeom>
          <a:solidFill>
            <a:srgbClr val="FFF8D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lide-7-callout-text">
            <a:extLst>
              <a:ext uri="{FF2B5EF4-FFF2-40B4-BE49-F238E27FC236}">
                <a16:creationId xmlns:a16="http://schemas.microsoft.com/office/drawing/2014/main" id="{FF792A27-3660-F3C1-9C4D-E08578BE851C}"/>
              </a:ext>
            </a:extLst>
          </p:cNvPr>
          <p:cNvSpPr txBox="1"/>
          <p:nvPr/>
        </p:nvSpPr>
        <p:spPr>
          <a:xfrm>
            <a:off x="914400" y="5295899"/>
            <a:ext cx="4876800" cy="3619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sz="2025" b="1">
                <a:solidFill>
                  <a:srgbClr val="40218F"/>
                </a:solidFill>
                <a:latin typeface="Arial" panose="020B0604020202020204" pitchFamily="34" charset="0"/>
              </a:rPr>
              <a:t>50 spaces • No experience required</a:t>
            </a:r>
          </a:p>
        </p:txBody>
      </p:sp>
      <p:sp>
        <p:nvSpPr>
          <p:cNvPr id="8" name="slide-7-qr-backing">
            <a:extLst>
              <a:ext uri="{FF2B5EF4-FFF2-40B4-BE49-F238E27FC236}">
                <a16:creationId xmlns:a16="http://schemas.microsoft.com/office/drawing/2014/main" id="{A42A4C05-A21F-2442-CE9F-A72EDB43E5AA}"/>
              </a:ext>
            </a:extLst>
          </p:cNvPr>
          <p:cNvSpPr/>
          <p:nvPr/>
        </p:nvSpPr>
        <p:spPr>
          <a:xfrm>
            <a:off x="7086600" y="876300"/>
            <a:ext cx="4038600" cy="403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FE3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slide-7-qr" descr="QR code to the Stauffer Femineers recruitment page">
            <a:extLst>
              <a:ext uri="{FF2B5EF4-FFF2-40B4-BE49-F238E27FC236}">
                <a16:creationId xmlns:a16="http://schemas.microsoft.com/office/drawing/2014/main" id="{9FF7E65B-E173-5D42-12DA-7670A1A3844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250" y="1123950"/>
            <a:ext cx="3543300" cy="3543300"/>
          </a:xfrm>
          <a:prstGeom prst="rect">
            <a:avLst/>
          </a:prstGeom>
        </p:spPr>
      </p:pic>
      <p:sp>
        <p:nvSpPr>
          <p:cNvPr id="11" name="slide-7-link">
            <a:hlinkClick r:id="rId4"/>
            <a:extLst>
              <a:ext uri="{FF2B5EF4-FFF2-40B4-BE49-F238E27FC236}">
                <a16:creationId xmlns:a16="http://schemas.microsoft.com/office/drawing/2014/main" id="{3C05A03A-EA86-E037-B56F-AE6CFE29E2C2}"/>
              </a:ext>
            </a:extLst>
          </p:cNvPr>
          <p:cNvSpPr txBox="1"/>
          <p:nvPr/>
        </p:nvSpPr>
        <p:spPr>
          <a:xfrm>
            <a:off x="6743700" y="5200649"/>
            <a:ext cx="4762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650" b="1" u="sng">
                <a:solidFill>
                  <a:srgbClr val="5F3DC4"/>
                </a:solidFill>
                <a:latin typeface="Arial" panose="020B0604020202020204" pitchFamily="34" charset="0"/>
              </a:rPr>
              <a:t>Open the Stauffer Femineers recruitment page</a:t>
            </a:r>
          </a:p>
        </p:txBody>
      </p:sp>
      <p:sp>
        <p:nvSpPr>
          <p:cNvPr id="12" name="slide-7-recommendation-note">
            <a:extLst>
              <a:ext uri="{FF2B5EF4-FFF2-40B4-BE49-F238E27FC236}">
                <a16:creationId xmlns:a16="http://schemas.microsoft.com/office/drawing/2014/main" id="{0407C630-D860-897F-D1CB-1C686C53353B}"/>
              </a:ext>
            </a:extLst>
          </p:cNvPr>
          <p:cNvSpPr txBox="1"/>
          <p:nvPr/>
        </p:nvSpPr>
        <p:spPr>
          <a:xfrm>
            <a:off x="6743700" y="5695949"/>
            <a:ext cx="47625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sz="1650">
                <a:solidFill>
                  <a:srgbClr val="59657A"/>
                </a:solidFill>
                <a:latin typeface="Arial" panose="020B0604020202020204" pitchFamily="34" charset="0"/>
              </a:rPr>
              <a:t>A teacher recommendation can support your application, but it does not replace it.</a:t>
            </a:r>
          </a:p>
        </p:txBody>
      </p:sp>
      <p:sp>
        <p:nvSpPr>
          <p:cNvPr id="13" name="slide-7-footer-label">
            <a:extLst>
              <a:ext uri="{FF2B5EF4-FFF2-40B4-BE49-F238E27FC236}">
                <a16:creationId xmlns:a16="http://schemas.microsoft.com/office/drawing/2014/main" id="{861A52F7-6CC0-53B5-525C-77B285E940B7}"/>
              </a:ext>
            </a:extLst>
          </p:cNvPr>
          <p:cNvSpPr txBox="1"/>
          <p:nvPr/>
        </p:nvSpPr>
        <p:spPr>
          <a:xfrm>
            <a:off x="685800" y="6381750"/>
            <a:ext cx="3429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 sz="1350" b="1">
                <a:solidFill>
                  <a:srgbClr val="59657A"/>
                </a:solidFill>
                <a:latin typeface="Arial" panose="020B0604020202020204" pitchFamily="34" charset="0"/>
              </a:rPr>
              <a:t>QUESTIONS? ASK A MENTOR</a:t>
            </a:r>
          </a:p>
        </p:txBody>
      </p:sp>
      <p:sp>
        <p:nvSpPr>
          <p:cNvPr id="14" name="slide-7-footer-number">
            <a:extLst>
              <a:ext uri="{FF2B5EF4-FFF2-40B4-BE49-F238E27FC236}">
                <a16:creationId xmlns:a16="http://schemas.microsoft.com/office/drawing/2014/main" id="{C4268789-00B4-CC68-0FA6-536611456B9A}"/>
              </a:ext>
            </a:extLst>
          </p:cNvPr>
          <p:cNvSpPr txBox="1"/>
          <p:nvPr/>
        </p:nvSpPr>
        <p:spPr>
          <a:xfrm>
            <a:off x="11049000" y="6381750"/>
            <a:ext cx="457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r>
              <a:rPr lang="en-US" sz="1350">
                <a:solidFill>
                  <a:srgbClr val="59657A"/>
                </a:solidFill>
                <a:latin typeface="Arial" panose="020B06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57276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972</Words>
  <Application>Microsoft Office PowerPoint</Application>
  <PresentationFormat>Custom</PresentationFormat>
  <Paragraphs>130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Tansopalucks, Trirath</dc:creator>
  <cp:lastModifiedBy>Tansopalucks, Trirath</cp:lastModifiedBy>
  <cp:revision>1</cp:revision>
  <dcterms:created xsi:type="dcterms:W3CDTF">2026-08-27T02:12:09Z</dcterms:created>
  <dcterms:modified xsi:type="dcterms:W3CDTF">2026-08-27T02:12:09Z</dcterms:modified>
</cp:coreProperties>
</file>