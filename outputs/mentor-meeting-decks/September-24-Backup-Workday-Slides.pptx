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bd4035f20c4c5a" /><Relationship Type="http://schemas.openxmlformats.org/officeDocument/2006/relationships/extended-properties" Target="/docProps/app.xml" Id="R5f3a78551b784663" /><Relationship Type="http://schemas.openxmlformats.org/officeDocument/2006/relationships/officeDocument" Target="/ppt/presentation.xml" Id="R20830e9cd14c4d86" /></Relationships>
</file>

<file path=ppt/presentation.xml><?xml version="1.0" encoding="utf-8"?>
<p:presentation xmlns:p="http://schemas.openxmlformats.org/presentationml/2006/main">
  <p:sldMasterIdLst>
    <p:sldMasterId xmlns:r="http://schemas.openxmlformats.org/officeDocument/2006/relationships" id="2147483648" r:id="R8ae96c02c0f54975"/>
  </p:sldMasterIdLst>
  <p:notesMasterIdLst>
    <p:notesMasterId xmlns:r="http://schemas.openxmlformats.org/officeDocument/2006/relationships" r:id="R61f72497dbd14ec2"/>
  </p:notesMasterIdLst>
  <p:sldIdLst>
    <p:sldId xmlns:r="http://schemas.openxmlformats.org/officeDocument/2006/relationships" id="256" r:id="R8d24cc2a22df4593"/>
    <p:sldId xmlns:r="http://schemas.openxmlformats.org/officeDocument/2006/relationships" id="257" r:id="R6f6aada9b97e411c"/>
    <p:sldId xmlns:r="http://schemas.openxmlformats.org/officeDocument/2006/relationships" id="258" r:id="Rfd900ca478874a31"/>
    <p:sldId xmlns:r="http://schemas.openxmlformats.org/officeDocument/2006/relationships" id="259" r:id="Ra935b162facc41ab"/>
    <p:sldId xmlns:r="http://schemas.openxmlformats.org/officeDocument/2006/relationships" id="260" r:id="R652dd3f9e3074b29"/>
    <p:sldId xmlns:r="http://schemas.openxmlformats.org/officeDocument/2006/relationships" id="261" r:id="R368f00f61f414d56"/>
    <p:sldId xmlns:r="http://schemas.openxmlformats.org/officeDocument/2006/relationships" id="262" r:id="Rcceaac496c4246cc"/>
    <p:sldId xmlns:r="http://schemas.openxmlformats.org/officeDocument/2006/relationships" id="263" r:id="R8463f2ca9f6246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4b3afc1ebe4c8f" /><Relationship Type="http://schemas.openxmlformats.org/officeDocument/2006/relationships/slideMaster" Target="/ppt/slideMasters/slideMaster1.xml" Id="R8ae96c02c0f54975" /><Relationship Type="http://schemas.openxmlformats.org/officeDocument/2006/relationships/notesMaster" Target="/ppt/notesMasters/notesMaster1.xml" Id="R61f72497dbd14ec2" /><Relationship Type="http://schemas.openxmlformats.org/officeDocument/2006/relationships/presProps" Target="/ppt/presProps.xml" Id="R2a1167937dd84b11" /><Relationship Type="http://schemas.openxmlformats.org/officeDocument/2006/relationships/tableStyles" Target="/ppt/tableStyles.xml" Id="R79c80ed2f2f747c5" /><Relationship Type="http://schemas.openxmlformats.org/officeDocument/2006/relationships/slide" Target="/ppt/slides/slide1.xml" Id="R8d24cc2a22df4593" /><Relationship Type="http://schemas.openxmlformats.org/officeDocument/2006/relationships/slide" Target="/ppt/slides/slide2.xml" Id="R6f6aada9b97e411c" /><Relationship Type="http://schemas.openxmlformats.org/officeDocument/2006/relationships/slide" Target="/ppt/slides/slide3.xml" Id="Rfd900ca478874a31" /><Relationship Type="http://schemas.openxmlformats.org/officeDocument/2006/relationships/slide" Target="/ppt/slides/slide4.xml" Id="Ra935b162facc41ab" /><Relationship Type="http://schemas.openxmlformats.org/officeDocument/2006/relationships/slide" Target="/ppt/slides/slide5.xml" Id="R652dd3f9e3074b29" /><Relationship Type="http://schemas.openxmlformats.org/officeDocument/2006/relationships/slide" Target="/ppt/slides/slide6.xml" Id="R368f00f61f414d56" /><Relationship Type="http://schemas.openxmlformats.org/officeDocument/2006/relationships/slide" Target="/ppt/slides/slide7.xml" Id="Rcceaac496c4246cc" /><Relationship Type="http://schemas.openxmlformats.org/officeDocument/2006/relationships/slide" Target="/ppt/slides/slide8.xml" Id="R8463f2ca9f6246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965dfa72754b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628cf710fe4e7f" /><Relationship Type="http://schemas.openxmlformats.org/officeDocument/2006/relationships/notesMaster" Target="/ppt/notesMasters/notesMaster1.xml" Id="Rcb3e2fb5fbe745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06895b27a74c4d" /><Relationship Type="http://schemas.openxmlformats.org/officeDocument/2006/relationships/notesMaster" Target="/ppt/notesMasters/notesMaster1.xml" Id="R07a0d47094c147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444deac4214efb" /><Relationship Type="http://schemas.openxmlformats.org/officeDocument/2006/relationships/notesMaster" Target="/ppt/notesMasters/notesMaster1.xml" Id="Ra3ac94341df34c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586e27eeb24b0c" /><Relationship Type="http://schemas.openxmlformats.org/officeDocument/2006/relationships/notesMaster" Target="/ppt/notesMasters/notesMaster1.xml" Id="R358a428929584d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0505031fa24b95" /><Relationship Type="http://schemas.openxmlformats.org/officeDocument/2006/relationships/notesMaster" Target="/ppt/notesMasters/notesMaster1.xml" Id="Raa9ac4d2462b4b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28592f59cf469c" /><Relationship Type="http://schemas.openxmlformats.org/officeDocument/2006/relationships/notesMaster" Target="/ppt/notesMasters/notesMaster1.xml" Id="Refe5ed69504847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4cbe53ce2e42a7" /><Relationship Type="http://schemas.openxmlformats.org/officeDocument/2006/relationships/notesMaster" Target="/ppt/notesMasters/notesMaster1.xml" Id="R9aec0c31dfe944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61b412a7a24d72" /><Relationship Type="http://schemas.openxmlformats.org/officeDocument/2006/relationships/notesMaster" Target="/ppt/notesMasters/notesMaster1.xml" Id="Rea67b63fcf0848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8:00-8:20. Welcome students and show mentor-built working practice examples. Jennifer: 18 Wearables students at W1-W3 in nine practice pairs, individual proposals. Stephanie: 18 Robotics students in nine pairs at R1-R3. Tri: technical support and shared preview. The cover image is project inspiration, not a photograph of the available kits or a day-one construction target. First year Robotics; second year Wearables; third year confirmed choice. No major construction today.</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Thursday bell times. Students stay at their six home tables. The two pathway activity slides can stay projected while the corresponding mentor models the steps. 11:09-11:17 is reserved for saving, counting, powering off, and a reset break. After lunch allow return time until 1:16. Protect the last 20 minutes for shutdown. Full agenda: https://spartandesign.github.io/stauffer-femineers/mentor-backup-plan.html#agenda .</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Wearables: 8:20-9:25 sew; 9:25-9:38 snack; 9:38-9:42 return; 9:42-10:05 finish, inspect, and test. From 10:05-11:09, demonstrate A heart / B happy / A+B clear, share coding turns, personalize, run three trials, change one thing, and retest. Use matching tested coin-cell holder/cell and sewable LED. Inspect both sides before power. Power out for sewing and repairs; count needles before snack and coding. Label simulator results honestly. Tutorials: https://spartandesign.github.io/stauffer-femineers/mentor-circuit-lab-prep.html#prepare ; https://learn.sparkfun.com/tutorials/lilypad-basics-e-sewing ; https://spartandesign.github.io/stauffer-femineers/mentor-microbit-prep.html#starter ; https://support.microbit.org/support/solutions/articles/19000013986-how-do-i-transfer-my-code-onto-the-micro-bit-via-usb .</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Robotics: 8:20-9:25 connect, identify the actual sensor, and test outputs. Snack 9:25-9:38, return by 9:42. From 9:42-10:05 combine an input and two outputs. From 10:05-11:09 run three trials, change one thing, and retest. Confirm sensor type before choosing the tutorial or comparison. Use only a secured, tested servo. Two LEDs are two output devices of one type; record motion as deferred. A rehearsed BirdBlox button input can replace an unavailable sensor, labeled sensor work deferred. R boards retain BirdBrain firmware. Students keep their numbered kit and exchange roles. Tutorials: https://learn.birdbraintechnologies.com/hummingbirdbit/birdblox/program ; https://spartandesign.github.io/stauffer-femineers/mentor-hummingbird-prep.html#starter . BirdBlox tutorial clips are silent; narrate the relevant steps.</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11:17-11:25: selected pairs share useful capabilities. 11:25-11:35: everyone draws a paper/digital future symbol. 11:35-11:45: Tri shows a selected NeoPixel excerpt or labeled diagram; learners sketch a pattern. Record observed video/diagram and physical strip test deferred. No improvised pixel wiring today. Preview: https://video.microbit.org/support/neopixel.mp4 ; illustrated example: https://support.microbit.org/support/solutions/articles/19000130206-using-neopixels-with-the-micro-bit ; local system diagram and starter: https://spartandesign.github.io/stauffer-femineers/mentor-neopixel-prep.html#wiring and https://spartandesign.github.io/stauffer-femineers/mentor-neopixel-prep.html#starter . Open the clip on the school network before class. If playback fails, teach from the diagram and label that evidence accurately.</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11:45-12:42. Generate three distinct ideas before selecting. Ask: who is it for, what does it do, and which test will reduce the biggest uncertainty? The paper symbol can inform the shirt-and-hat theme. Each Wearables student develops an individual proposal; Robotics pairs plan one interaction and identify both contributions. Use the revised studio sheets already printed. Lunch 12:42-1:12, return by 1:16.</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1:16-2:00 proposal studio and staggered mentor conferences. 2:00-2:21 table pitches and revisions. Jennifer can use about three minutes per individual across the review/pitch period; Stephanie about five minutes per pair. Tri handles technical dependencies. Wearables: shirt front/back, hat, removable electronics, power placement, A/B/off behavior. Robotics: user, physical concept, actual input and two outputs, decision storyboard, partner roles. Accept current evidence with an explicit deferred test; no invented passing result. A provisional concept is not permission to construct an untested feature. Guides: https://spartandesign.github.io/stauffer-femineers/september-24-backup.html#evidence .</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2:21-2:41. Stop activity and clean up. Save readable code, photos, trial results, and mentor notes; if Canvas upload fails, record the local file location and upload pending. Use rehearsed reset, disconnect, and power off. Return and count every needle and loose part. Isolate failed kits and label storage. Record the missing test, owner, and next school-time check. No homework. Canvas may use approved, provisional, or revise/hold; map technical review to a held feature with a named owner. The website’s Revise and Return and Needs Technical Review statuses remain valid mentor decisions.</a:t>
            </a:r>
          </a:p>
          <a:p xmlns:a="http://schemas.openxmlformats.org/drawingml/2006/main">
            <a:r>
              <a:t>Source: https://spartandesign.github.io/stauffer-femineers/mentor-backup-plan.html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1eab0d89104f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5e86696c524842" /><Relationship Type="http://schemas.openxmlformats.org/officeDocument/2006/relationships/slideLayout" Target="/ppt/slideLayouts/slideLayout1.xml" Id="Re339e50593ee49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39e50593ee49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0881acbfaf4b5e" /><Relationship Type="http://schemas.openxmlformats.org/officeDocument/2006/relationships/image" Target="/ppt/media/image.bin" Id="R1450916ad4c14e8b" /><Relationship Type="http://schemas.openxmlformats.org/officeDocument/2006/relationships/notesSlide" Target="/ppt/notesSlides/notesSlide1.xml" Id="Rc1a846f093e14e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0008b7a5da4312" /><Relationship Type="http://schemas.openxmlformats.org/officeDocument/2006/relationships/notesSlide" Target="/ppt/notesSlides/notesSlide2.xml" Id="Rc0fda8c2a39646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ac97b936f74cfa" /><Relationship Type="http://schemas.openxmlformats.org/officeDocument/2006/relationships/notesSlide" Target="/ppt/notesSlides/notesSlide3.xml" Id="R748b9f70a72140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62f4477d53475f" /><Relationship Type="http://schemas.openxmlformats.org/officeDocument/2006/relationships/notesSlide" Target="/ppt/notesSlides/notesSlide4.xml" Id="R5a959055162446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fb7811bde7492b" /><Relationship Type="http://schemas.openxmlformats.org/officeDocument/2006/relationships/notesSlide" Target="/ppt/notesSlides/notesSlide5.xml" Id="R4ab29d3bd39046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1e7ac2d2fe45d6" /><Relationship Type="http://schemas.openxmlformats.org/officeDocument/2006/relationships/notesSlide" Target="/ppt/notesSlides/notesSlide6.xml" Id="R87fc710c3c0a4c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509a7d4e234901" /><Relationship Type="http://schemas.openxmlformats.org/officeDocument/2006/relationships/notesSlide" Target="/ppt/notesSlides/notesSlide7.xml" Id="R4d8171565c6043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3e23335ddf4dce" /><Relationship Type="http://schemas.openxmlformats.org/officeDocument/2006/relationships/notesSlide" Target="/ppt/notesSlides/notesSlide8.xml" Id="Rf4078ae2f4384772" /></Relationships>
</file>

<file path=ppt/slides/slide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AC02E3-9080-4DE5-9687-60AA515C52F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B60352-41C0-4641-9C19-64F89A091B44}"/>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1B20F5EC-BD92-485E-9D00-49C0CE7BD9B7}"/>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1/8</a:t>
            </a:r>
          </a:p>
        </p:txBody>
      </p:sp>
      <p:sp>
        <p:nvSpPr>
          <p:cNvPr id="4" name="">
            <a:extLst xmlns:a="http://schemas.openxmlformats.org/drawingml/2006/main">
              <a:ext uri="{FF2B5EF4-FFF2-40B4-BE49-F238E27FC236}">
                <a16:creationId xmlns:a16="http://schemas.microsoft.com/office/drawing/2014/main" id="{2F2A857D-DF7E-4CBE-8B2B-1128390000B4}"/>
              </a:ext>
            </a:extLst>
          </p:cNvPr>
          <p:cNvSpPr>
            <a:spLocks xmlns:a="http://schemas.openxmlformats.org/drawingml/2006/main" noGrp="1"/>
          </p:cNvSpPr>
          <p:nvPr/>
        </p:nvSpPr>
        <p:spPr>
          <a:xfrm xmlns:a="http://schemas.openxmlformats.org/drawingml/2006/main">
            <a:off x="533400" y="74295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5F3DC4"/>
                </a:solidFill>
                <a:latin typeface="Aptos"/>
                <a:ea typeface="Aptos"/>
                <a:cs typeface="Aptos"/>
              </a:defRPr>
            </a:pPr>
            <a:r>
              <a:rPr sz="1350" b="1">
                <a:solidFill>
                  <a:srgbClr val="5F3DC4"/>
                </a:solidFill>
                <a:latin typeface="Aptos"/>
                <a:ea typeface="Aptos"/>
                <a:cs typeface="Aptos"/>
              </a:rPr>
              <a:t>THURSDAY WORKDAY</a:t>
            </a:r>
          </a:p>
        </p:txBody>
      </p:sp>
      <p:sp>
        <p:nvSpPr>
          <p:cNvPr id="5" name="">
            <a:extLst xmlns:a="http://schemas.openxmlformats.org/drawingml/2006/main">
              <a:ext uri="{FF2B5EF4-FFF2-40B4-BE49-F238E27FC236}">
                <a16:creationId xmlns:a16="http://schemas.microsoft.com/office/drawing/2014/main" id="{436E42BF-53F3-4309-8884-2754B7A99F5B}"/>
              </a:ext>
            </a:extLst>
          </p:cNvPr>
          <p:cNvSpPr>
            <a:spLocks xmlns:a="http://schemas.openxmlformats.org/drawingml/2006/main" noGrp="1"/>
          </p:cNvSpPr>
          <p:nvPr/>
        </p:nvSpPr>
        <p:spPr>
          <a:xfrm xmlns:a="http://schemas.openxmlformats.org/drawingml/2006/main">
            <a:off x="533400" y="1123950"/>
            <a:ext cx="60960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350" b="1">
                <a:solidFill>
                  <a:srgbClr val="18233A"/>
                </a:solidFill>
                <a:latin typeface="Aptos Display"/>
                <a:ea typeface="Aptos Display"/>
                <a:cs typeface="Aptos Display"/>
              </a:defRPr>
            </a:pPr>
            <a:r>
              <a:rPr sz="4350" b="1">
                <a:solidFill>
                  <a:srgbClr val="18233A"/>
                </a:solidFill>
                <a:latin typeface="Aptos Display"/>
                <a:ea typeface="Aptos Display"/>
                <a:cs typeface="Aptos Display"/>
              </a:rPr>
              <a:t>Imagine the Future</a:t>
            </a:r>
          </a:p>
        </p:txBody>
      </p:sp>
      <p:sp>
        <p:nvSpPr>
          <p:cNvPr id="6" name="">
            <a:extLst xmlns:a="http://schemas.openxmlformats.org/drawingml/2006/main">
              <a:ext uri="{FF2B5EF4-FFF2-40B4-BE49-F238E27FC236}">
                <a16:creationId xmlns:a16="http://schemas.microsoft.com/office/drawing/2014/main" id="{CC73E716-AA13-4475-9067-EF08499E02DE}"/>
              </a:ext>
            </a:extLst>
          </p:cNvPr>
          <p:cNvSpPr>
            <a:spLocks xmlns:a="http://schemas.openxmlformats.org/drawingml/2006/main" noGrp="1"/>
          </p:cNvSpPr>
          <p:nvPr/>
        </p:nvSpPr>
        <p:spPr>
          <a:xfrm xmlns:a="http://schemas.openxmlformats.org/drawingml/2006/main">
            <a:off x="533400" y="268605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59657A"/>
                </a:solidFill>
                <a:latin typeface="Aptos"/>
                <a:ea typeface="Aptos"/>
                <a:cs typeface="Aptos"/>
              </a:defRPr>
            </a:pPr>
            <a:r>
              <a:rPr sz="1575" b="1">
                <a:solidFill>
                  <a:srgbClr val="59657A"/>
                </a:solidFill>
                <a:latin typeface="Aptos"/>
                <a:ea typeface="Aptos"/>
                <a:cs typeface="Aptos"/>
              </a:rPr>
              <a:t>Thursday, September 24, 2026 / Room 14</a:t>
            </a:r>
          </a:p>
        </p:txBody>
      </p:sp>
      <p:sp>
        <p:nvSpPr>
          <p:cNvPr id="7" name="">
            <a:extLst xmlns:a="http://schemas.openxmlformats.org/drawingml/2006/main">
              <a:ext uri="{FF2B5EF4-FFF2-40B4-BE49-F238E27FC236}">
                <a16:creationId xmlns:a16="http://schemas.microsoft.com/office/drawing/2014/main" id="{AAF41467-FA5B-4263-96CC-340A4C7A2181}"/>
              </a:ext>
            </a:extLst>
          </p:cNvPr>
          <p:cNvSpPr>
            <a:spLocks xmlns:a="http://schemas.openxmlformats.org/drawingml/2006/main" noGrp="1"/>
          </p:cNvSpPr>
          <p:nvPr/>
        </p:nvSpPr>
        <p:spPr>
          <a:xfrm xmlns:a="http://schemas.openxmlformats.org/drawingml/2006/main">
            <a:off x="533400" y="3295650"/>
            <a:ext cx="6000750" cy="2400300"/>
          </a:xfrm>
          <a:prstGeom xmlns:a="http://schemas.openxmlformats.org/drawingml/2006/main" prst="roundRect">
            <a:avLst>
              <a:gd name="adj" fmla="val 8730"/>
            </a:avLst>
          </a:prstGeom>
          <a:solidFill xmlns:a="http://schemas.openxmlformats.org/drawingml/2006/main">
            <a:srgbClr val="EFEA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071FC0B-A676-4248-A9E6-9F0B1208BFCE}"/>
              </a:ext>
            </a:extLst>
          </p:cNvPr>
          <p:cNvSpPr>
            <a:spLocks xmlns:a="http://schemas.openxmlformats.org/drawingml/2006/main" noGrp="1"/>
          </p:cNvSpPr>
          <p:nvPr/>
        </p:nvSpPr>
        <p:spPr>
          <a:xfrm xmlns:a="http://schemas.openxmlformats.org/drawingml/2006/main">
            <a:off x="800100" y="3543300"/>
            <a:ext cx="2095500" cy="419100"/>
          </a:xfrm>
          <a:prstGeom xmlns:a="http://schemas.openxmlformats.org/drawingml/2006/main" prst="roundRect">
            <a:avLst>
              <a:gd name="adj" fmla="val 40909"/>
            </a:avLst>
          </a:prstGeom>
          <a:solidFill xmlns:a="http://schemas.openxmlformats.org/drawingml/2006/main">
            <a:srgbClr val="5F3DC4"/>
          </a:solidFill>
          <a:ln xmlns:a="http://schemas.openxmlformats.org/drawingml/2006/main" w="0">
            <a:noFill/>
            <a:prstDash val="solid"/>
          </a:ln>
        </p:spPr>
        <p:txBody>
          <a:bodyPr xmlns:a="http://schemas.openxmlformats.org/drawingml/2006/main" lIns="114300" tIns="38100" rIns="114300" bIns="38100" anchor="ctr">
            <a:normAutofit fontScale="78568"/>
          </a:bodyPr>
          <a:lstStyle xmlns:a="http://schemas.openxmlformats.org/drawingml/2006/main"/>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8:00-8:20</a:t>
            </a:r>
          </a:p>
        </p:txBody>
      </p:sp>
      <p:sp>
        <p:nvSpPr>
          <p:cNvPr id="9" name="">
            <a:extLst xmlns:a="http://schemas.openxmlformats.org/drawingml/2006/main">
              <a:ext uri="{FF2B5EF4-FFF2-40B4-BE49-F238E27FC236}">
                <a16:creationId xmlns:a16="http://schemas.microsoft.com/office/drawing/2014/main" id="{BF48CAD2-57BF-4F9D-BCB7-4D1A6CCB79B6}"/>
              </a:ext>
            </a:extLst>
          </p:cNvPr>
          <p:cNvSpPr>
            <a:spLocks xmlns:a="http://schemas.openxmlformats.org/drawingml/2006/main" noGrp="1"/>
          </p:cNvSpPr>
          <p:nvPr/>
        </p:nvSpPr>
        <p:spPr>
          <a:xfrm xmlns:a="http://schemas.openxmlformats.org/drawingml/2006/main">
            <a:off x="800100" y="4152900"/>
            <a:ext cx="5391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8233A"/>
                </a:solidFill>
                <a:latin typeface="Aptos Display"/>
                <a:ea typeface="Aptos Display"/>
                <a:cs typeface="Aptos Display"/>
              </a:defRPr>
            </a:pPr>
            <a:r>
              <a:rPr sz="2400" b="1">
                <a:solidFill>
                  <a:srgbClr val="18233A"/>
                </a:solidFill>
                <a:latin typeface="Aptos Display"/>
                <a:ea typeface="Aptos Display"/>
                <a:cs typeface="Aptos Display"/>
              </a:rPr>
              <a:t>Your home table</a:t>
            </a:r>
          </a:p>
        </p:txBody>
      </p:sp>
      <p:sp>
        <p:nvSpPr>
          <p:cNvPr id="10" name="">
            <a:extLst xmlns:a="http://schemas.openxmlformats.org/drawingml/2006/main">
              <a:ext uri="{FF2B5EF4-FFF2-40B4-BE49-F238E27FC236}">
                <a16:creationId xmlns:a16="http://schemas.microsoft.com/office/drawing/2014/main" id="{118496FB-5948-440E-B7F6-991229BE3B71}"/>
              </a:ext>
            </a:extLst>
          </p:cNvPr>
          <p:cNvSpPr>
            <a:spLocks xmlns:a="http://schemas.openxmlformats.org/drawingml/2006/main" noGrp="1"/>
          </p:cNvSpPr>
          <p:nvPr/>
        </p:nvSpPr>
        <p:spPr>
          <a:xfrm xmlns:a="http://schemas.openxmlformats.org/drawingml/2006/main">
            <a:off x="800100" y="4762500"/>
            <a:ext cx="5391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200"/>
              </a:spcAft>
              <a:buChar char="•"/>
              <a:defRPr sz="1500">
                <a:solidFill>
                  <a:srgbClr val="18233A"/>
                </a:solidFill>
                <a:latin typeface="Aptos"/>
                <a:ea typeface="Aptos"/>
                <a:cs typeface="Aptos"/>
              </a:defRPr>
            </a:pPr>
            <a:r>
              <a:rPr sz="1500">
                <a:solidFill>
                  <a:srgbClr val="18233A"/>
                </a:solidFill>
                <a:latin typeface="Aptos"/>
                <a:ea typeface="Aptos"/>
                <a:cs typeface="Aptos"/>
              </a:rPr>
              <a:t>Wearables: W1-W3 with Jennifer</a:t>
            </a:r>
          </a:p>
          <a:p xmlns:a="http://schemas.openxmlformats.org/drawingml/2006/main">
            <a:pPr marL="203200" indent="-101600">
              <a:spcAft>
                <a:spcPts val="200"/>
              </a:spcAft>
              <a:buChar char="•"/>
              <a:defRPr sz="1500">
                <a:solidFill>
                  <a:srgbClr val="18233A"/>
                </a:solidFill>
                <a:latin typeface="Aptos"/>
                <a:ea typeface="Aptos"/>
                <a:cs typeface="Aptos"/>
              </a:defRPr>
            </a:pPr>
            <a:r>
              <a:rPr sz="1500">
                <a:solidFill>
                  <a:srgbClr val="18233A"/>
                </a:solidFill>
                <a:latin typeface="Aptos"/>
                <a:ea typeface="Aptos"/>
                <a:cs typeface="Aptos"/>
              </a:rPr>
              <a:t>Robotics: R1-R3 with Stephanie</a:t>
            </a:r>
          </a:p>
          <a:p xmlns:a="http://schemas.openxmlformats.org/drawingml/2006/main">
            <a:pPr marL="203200" indent="-101600">
              <a:spcAft>
                <a:spcPts val="200"/>
              </a:spcAft>
              <a:buChar char="•"/>
              <a:defRPr sz="1500">
                <a:solidFill>
                  <a:srgbClr val="18233A"/>
                </a:solidFill>
                <a:latin typeface="Aptos"/>
                <a:ea typeface="Aptos"/>
                <a:cs typeface="Aptos"/>
              </a:defRPr>
            </a:pPr>
            <a:r>
              <a:rPr sz="1500">
                <a:solidFill>
                  <a:srgbClr val="18233A"/>
                </a:solidFill>
                <a:latin typeface="Aptos"/>
                <a:ea typeface="Aptos"/>
                <a:cs typeface="Aptos"/>
              </a:rPr>
              <a:t>Six students and three pairs at each table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450916ad4c14e8b"/>
          <a:srcRect xmlns:a="http://schemas.openxmlformats.org/drawingml/2006/main" l="18077" t="0" r="18077" b="0"/>
          <a:stretch xmlns:a="http://schemas.openxmlformats.org/drawingml/2006/main">
            <a:fillRect l="0" t="0" r="0" b="0"/>
          </a:stretch>
        </p:blipFill>
        <p:spPr>
          <a:xfrm xmlns:a="http://schemas.openxmlformats.org/drawingml/2006/main">
            <a:off x="6991350" y="742950"/>
            <a:ext cx="4743450" cy="4953000"/>
          </a:xfrm>
          <a:prstGeom xmlns:a="http://schemas.openxmlformats.org/drawingml/2006/main" prst="roundRect">
            <a:avLst>
              <a:gd name="adj" fmla="val 3213"/>
            </a:avLst>
          </a:prstGeom>
        </p:spPr>
      </p:pic>
      <p:sp>
        <p:nvSpPr>
          <p:cNvPr id="12" name="">
            <a:extLst xmlns:a="http://schemas.openxmlformats.org/drawingml/2006/main">
              <a:ext uri="{FF2B5EF4-FFF2-40B4-BE49-F238E27FC236}">
                <a16:creationId xmlns:a16="http://schemas.microsoft.com/office/drawing/2014/main" id="{EFB0C1E8-0068-4894-B41D-38AB315918F7}"/>
              </a:ext>
            </a:extLst>
          </p:cNvPr>
          <p:cNvSpPr>
            <a:spLocks xmlns:a="http://schemas.openxmlformats.org/drawingml/2006/main" noGrp="1"/>
          </p:cNvSpPr>
          <p:nvPr/>
        </p:nvSpPr>
        <p:spPr>
          <a:xfrm xmlns:a="http://schemas.openxmlformats.org/drawingml/2006/main">
            <a:off x="6991350" y="5695950"/>
            <a:ext cx="4743450" cy="419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B99C97-B34E-4A3A-89FE-20B85794AEED}"/>
              </a:ext>
            </a:extLst>
          </p:cNvPr>
          <p:cNvSpPr>
            <a:spLocks xmlns:a="http://schemas.openxmlformats.org/drawingml/2006/main" noGrp="1"/>
          </p:cNvSpPr>
          <p:nvPr/>
        </p:nvSpPr>
        <p:spPr>
          <a:xfrm xmlns:a="http://schemas.openxmlformats.org/drawingml/2006/main">
            <a:off x="7200900" y="5781675"/>
            <a:ext cx="432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Project inspiration / Today we practice and plan.</a:t>
            </a:r>
          </a:p>
        </p:txBody>
      </p:sp>
      <p:sp>
        <p:nvSpPr>
          <p:cNvPr id="14" name="">
            <a:extLst xmlns:a="http://schemas.openxmlformats.org/drawingml/2006/main">
              <a:ext uri="{FF2B5EF4-FFF2-40B4-BE49-F238E27FC236}">
                <a16:creationId xmlns:a16="http://schemas.microsoft.com/office/drawing/2014/main" id="{D1B39B4D-E286-45B6-8694-04776A5AD973}"/>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91D6A57-EF76-4722-A3CD-9280A9BE9921}"/>
              </a:ext>
            </a:extLst>
          </p:cNvPr>
          <p:cNvSpPr>
            <a:spLocks xmlns:a="http://schemas.openxmlformats.org/drawingml/2006/main" noGrp="1"/>
          </p:cNvSpPr>
          <p:nvPr/>
        </p:nvSpPr>
        <p:spPr>
          <a:xfrm xmlns:a="http://schemas.openxmlformats.org/drawingml/2006/main">
            <a:off x="457200" y="6515100"/>
            <a:ext cx="14097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DC5F373-AABD-4A81-8D11-4588C0F946E9}"/>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17" name="">
            <a:extLst xmlns:a="http://schemas.openxmlformats.org/drawingml/2006/main">
              <a:ext uri="{FF2B5EF4-FFF2-40B4-BE49-F238E27FC236}">
                <a16:creationId xmlns:a16="http://schemas.microsoft.com/office/drawing/2014/main" id="{F49678D0-23EE-44D0-95A4-C2554ACC55BD}"/>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46625329"/>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02EF6300-E53E-4A64-A2B6-9D6B2FE0090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A8D504-A0AE-4D03-8C14-B04786EF6E72}"/>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25E7C3FB-DEBE-407E-8050-0C380BEA4BCA}"/>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2/8</a:t>
            </a:r>
          </a:p>
        </p:txBody>
      </p:sp>
      <p:sp>
        <p:nvSpPr>
          <p:cNvPr id="4" name="">
            <a:extLst xmlns:a="http://schemas.openxmlformats.org/drawingml/2006/main">
              <a:ext uri="{FF2B5EF4-FFF2-40B4-BE49-F238E27FC236}">
                <a16:creationId xmlns:a16="http://schemas.microsoft.com/office/drawing/2014/main" id="{D62B0482-6868-4FA7-8271-4D3228BF143F}"/>
              </a:ext>
            </a:extLst>
          </p:cNvPr>
          <p:cNvSpPr>
            <a:spLocks xmlns:a="http://schemas.openxmlformats.org/drawingml/2006/main" noGrp="1"/>
          </p:cNvSpPr>
          <p:nvPr/>
        </p:nvSpPr>
        <p:spPr>
          <a:xfrm xmlns:a="http://schemas.openxmlformats.org/drawingml/2006/main">
            <a:off x="457200" y="7429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a:solidFill>
                  <a:srgbClr val="18233A"/>
                </a:solidFill>
                <a:latin typeface="Aptos Display"/>
                <a:ea typeface="Aptos Display"/>
                <a:cs typeface="Aptos Display"/>
              </a:defRPr>
            </a:pPr>
            <a:r>
              <a:rPr sz="3225" b="1">
                <a:solidFill>
                  <a:srgbClr val="18233A"/>
                </a:solidFill>
                <a:latin typeface="Aptos Display"/>
                <a:ea typeface="Aptos Display"/>
                <a:cs typeface="Aptos Display"/>
              </a:rPr>
              <a:t>Thursday at a glance</a:t>
            </a:r>
          </a:p>
        </p:txBody>
      </p:sp>
      <p:sp>
        <p:nvSpPr>
          <p:cNvPr id="5" name="">
            <a:extLst xmlns:a="http://schemas.openxmlformats.org/drawingml/2006/main">
              <a:ext uri="{FF2B5EF4-FFF2-40B4-BE49-F238E27FC236}">
                <a16:creationId xmlns:a16="http://schemas.microsoft.com/office/drawing/2014/main" id="{D9760499-E8D1-4FF1-8760-B7223C41AFFC}"/>
              </a:ext>
            </a:extLst>
          </p:cNvPr>
          <p:cNvSpPr>
            <a:spLocks xmlns:a="http://schemas.openxmlformats.org/drawingml/2006/main" noGrp="1"/>
          </p:cNvSpPr>
          <p:nvPr/>
        </p:nvSpPr>
        <p:spPr>
          <a:xfrm xmlns:a="http://schemas.openxmlformats.org/drawingml/2006/main">
            <a:off x="457200" y="13906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59657A"/>
                </a:solidFill>
                <a:latin typeface="Aptos"/>
                <a:ea typeface="Aptos"/>
                <a:cs typeface="Aptos"/>
              </a:defRPr>
            </a:pPr>
            <a:r>
              <a:rPr sz="1575" b="0">
                <a:solidFill>
                  <a:srgbClr val="59657A"/>
                </a:solidFill>
                <a:latin typeface="Aptos"/>
                <a:ea typeface="Aptos"/>
                <a:cs typeface="Aptos"/>
              </a:rPr>
              <a:t>8:00 a.m.-2:41 p.m. in Room 14. Stay at your home table and follow your mentor.</a:t>
            </a:r>
          </a:p>
        </p:txBody>
      </p:sp>
      <p:sp>
        <p:nvSpPr>
          <p:cNvPr id="6" name="">
            <a:extLst xmlns:a="http://schemas.openxmlformats.org/drawingml/2006/main">
              <a:ext uri="{FF2B5EF4-FFF2-40B4-BE49-F238E27FC236}">
                <a16:creationId xmlns:a16="http://schemas.microsoft.com/office/drawing/2014/main" id="{F698F23A-D630-4965-965F-F07B88223DCC}"/>
              </a:ext>
            </a:extLst>
          </p:cNvPr>
          <p:cNvSpPr>
            <a:spLocks xmlns:a="http://schemas.openxmlformats.org/drawingml/2006/main" noGrp="1"/>
          </p:cNvSpPr>
          <p:nvPr/>
        </p:nvSpPr>
        <p:spPr>
          <a:xfrm xmlns:a="http://schemas.openxmlformats.org/drawingml/2006/main">
            <a:off x="457200" y="1866900"/>
            <a:ext cx="11277600" cy="492919"/>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B1621A-3CB2-498B-8A00-7B50ABA3FDC7}"/>
              </a:ext>
            </a:extLst>
          </p:cNvPr>
          <p:cNvSpPr>
            <a:spLocks xmlns:a="http://schemas.openxmlformats.org/drawingml/2006/main" noGrp="1"/>
          </p:cNvSpPr>
          <p:nvPr/>
        </p:nvSpPr>
        <p:spPr>
          <a:xfrm xmlns:a="http://schemas.openxmlformats.org/drawingml/2006/main">
            <a:off x="457200" y="1866900"/>
            <a:ext cx="76200" cy="492919"/>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19C0B9-4BF3-4EA4-8F94-BF7CAE26E876}"/>
              </a:ext>
            </a:extLst>
          </p:cNvPr>
          <p:cNvSpPr>
            <a:spLocks xmlns:a="http://schemas.openxmlformats.org/drawingml/2006/main" noGrp="1"/>
          </p:cNvSpPr>
          <p:nvPr/>
        </p:nvSpPr>
        <p:spPr>
          <a:xfrm xmlns:a="http://schemas.openxmlformats.org/drawingml/2006/main">
            <a:off x="704850" y="1943100"/>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8:00-8:20</a:t>
            </a:r>
          </a:p>
        </p:txBody>
      </p:sp>
      <p:sp>
        <p:nvSpPr>
          <p:cNvPr id="9" name="">
            <a:extLst xmlns:a="http://schemas.openxmlformats.org/drawingml/2006/main">
              <a:ext uri="{FF2B5EF4-FFF2-40B4-BE49-F238E27FC236}">
                <a16:creationId xmlns:a16="http://schemas.microsoft.com/office/drawing/2014/main" id="{24B894CA-9F27-4850-B09D-B98D12F00F05}"/>
              </a:ext>
            </a:extLst>
          </p:cNvPr>
          <p:cNvSpPr>
            <a:spLocks xmlns:a="http://schemas.openxmlformats.org/drawingml/2006/main" noGrp="1"/>
          </p:cNvSpPr>
          <p:nvPr/>
        </p:nvSpPr>
        <p:spPr>
          <a:xfrm xmlns:a="http://schemas.openxmlformats.org/drawingml/2006/main">
            <a:off x="2647950" y="1943100"/>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Welcome, mentor examples, and table groups</a:t>
            </a:r>
          </a:p>
        </p:txBody>
      </p:sp>
      <p:sp>
        <p:nvSpPr>
          <p:cNvPr id="10" name="">
            <a:extLst xmlns:a="http://schemas.openxmlformats.org/drawingml/2006/main">
              <a:ext uri="{FF2B5EF4-FFF2-40B4-BE49-F238E27FC236}">
                <a16:creationId xmlns:a16="http://schemas.microsoft.com/office/drawing/2014/main" id="{44C975A5-A791-4EE0-86E3-D9793861FF8F}"/>
              </a:ext>
            </a:extLst>
          </p:cNvPr>
          <p:cNvSpPr>
            <a:spLocks xmlns:a="http://schemas.openxmlformats.org/drawingml/2006/main" noGrp="1"/>
          </p:cNvSpPr>
          <p:nvPr/>
        </p:nvSpPr>
        <p:spPr>
          <a:xfrm xmlns:a="http://schemas.openxmlformats.org/drawingml/2006/main">
            <a:off x="8724900" y="1943100"/>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Today’s finish line</a:t>
            </a:r>
          </a:p>
        </p:txBody>
      </p:sp>
      <p:sp>
        <p:nvSpPr>
          <p:cNvPr id="11" name="">
            <a:extLst xmlns:a="http://schemas.openxmlformats.org/drawingml/2006/main">
              <a:ext uri="{FF2B5EF4-FFF2-40B4-BE49-F238E27FC236}">
                <a16:creationId xmlns:a16="http://schemas.microsoft.com/office/drawing/2014/main" id="{E3E48244-4634-4A97-878D-780957404F01}"/>
              </a:ext>
            </a:extLst>
          </p:cNvPr>
          <p:cNvSpPr>
            <a:spLocks xmlns:a="http://schemas.openxmlformats.org/drawingml/2006/main" noGrp="1"/>
          </p:cNvSpPr>
          <p:nvPr/>
        </p:nvSpPr>
        <p:spPr>
          <a:xfrm xmlns:a="http://schemas.openxmlformats.org/drawingml/2006/main">
            <a:off x="457200" y="2378869"/>
            <a:ext cx="76200" cy="492919"/>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231B32-9887-4A65-9214-DC2D5F30014D}"/>
              </a:ext>
            </a:extLst>
          </p:cNvPr>
          <p:cNvSpPr>
            <a:spLocks xmlns:a="http://schemas.openxmlformats.org/drawingml/2006/main" noGrp="1"/>
          </p:cNvSpPr>
          <p:nvPr/>
        </p:nvSpPr>
        <p:spPr>
          <a:xfrm xmlns:a="http://schemas.openxmlformats.org/drawingml/2006/main">
            <a:off x="704850" y="2455069"/>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8:20-11:09</a:t>
            </a:r>
          </a:p>
        </p:txBody>
      </p:sp>
      <p:sp>
        <p:nvSpPr>
          <p:cNvPr id="13" name="">
            <a:extLst xmlns:a="http://schemas.openxmlformats.org/drawingml/2006/main">
              <a:ext uri="{FF2B5EF4-FFF2-40B4-BE49-F238E27FC236}">
                <a16:creationId xmlns:a16="http://schemas.microsoft.com/office/drawing/2014/main" id="{0A347E3C-C4E3-4A92-90C2-96752DBFC810}"/>
              </a:ext>
            </a:extLst>
          </p:cNvPr>
          <p:cNvSpPr>
            <a:spLocks xmlns:a="http://schemas.openxmlformats.org/drawingml/2006/main" noGrp="1"/>
          </p:cNvSpPr>
          <p:nvPr/>
        </p:nvSpPr>
        <p:spPr>
          <a:xfrm xmlns:a="http://schemas.openxmlformats.org/drawingml/2006/main">
            <a:off x="2647950" y="2455069"/>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Pathway practice, coding, and tests</a:t>
            </a:r>
          </a:p>
        </p:txBody>
      </p:sp>
      <p:sp>
        <p:nvSpPr>
          <p:cNvPr id="14" name="">
            <a:extLst xmlns:a="http://schemas.openxmlformats.org/drawingml/2006/main">
              <a:ext uri="{FF2B5EF4-FFF2-40B4-BE49-F238E27FC236}">
                <a16:creationId xmlns:a16="http://schemas.microsoft.com/office/drawing/2014/main" id="{D6C93AC6-3599-46CA-846B-AC4FB46AA272}"/>
              </a:ext>
            </a:extLst>
          </p:cNvPr>
          <p:cNvSpPr>
            <a:spLocks xmlns:a="http://schemas.openxmlformats.org/drawingml/2006/main" noGrp="1"/>
          </p:cNvSpPr>
          <p:nvPr/>
        </p:nvSpPr>
        <p:spPr>
          <a:xfrm xmlns:a="http://schemas.openxmlformats.org/drawingml/2006/main">
            <a:off x="8724900" y="2455069"/>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Snack 9:25-9:38</a:t>
            </a:r>
          </a:p>
        </p:txBody>
      </p:sp>
      <p:sp>
        <p:nvSpPr>
          <p:cNvPr id="15" name="">
            <a:extLst xmlns:a="http://schemas.openxmlformats.org/drawingml/2006/main">
              <a:ext uri="{FF2B5EF4-FFF2-40B4-BE49-F238E27FC236}">
                <a16:creationId xmlns:a16="http://schemas.microsoft.com/office/drawing/2014/main" id="{3B68886E-DA91-442A-9549-7910C56535C2}"/>
              </a:ext>
            </a:extLst>
          </p:cNvPr>
          <p:cNvSpPr>
            <a:spLocks xmlns:a="http://schemas.openxmlformats.org/drawingml/2006/main" noGrp="1"/>
          </p:cNvSpPr>
          <p:nvPr/>
        </p:nvSpPr>
        <p:spPr>
          <a:xfrm xmlns:a="http://schemas.openxmlformats.org/drawingml/2006/main">
            <a:off x="457200" y="2890838"/>
            <a:ext cx="11277600" cy="492919"/>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7E9578-1750-4A16-8959-1CAA0840DEF0}"/>
              </a:ext>
            </a:extLst>
          </p:cNvPr>
          <p:cNvSpPr>
            <a:spLocks xmlns:a="http://schemas.openxmlformats.org/drawingml/2006/main" noGrp="1"/>
          </p:cNvSpPr>
          <p:nvPr/>
        </p:nvSpPr>
        <p:spPr>
          <a:xfrm xmlns:a="http://schemas.openxmlformats.org/drawingml/2006/main">
            <a:off x="457200" y="2890838"/>
            <a:ext cx="76200" cy="492919"/>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CBAE3A-9E23-401C-93F0-3AD2A1FD6BB7}"/>
              </a:ext>
            </a:extLst>
          </p:cNvPr>
          <p:cNvSpPr>
            <a:spLocks xmlns:a="http://schemas.openxmlformats.org/drawingml/2006/main" noGrp="1"/>
          </p:cNvSpPr>
          <p:nvPr/>
        </p:nvSpPr>
        <p:spPr>
          <a:xfrm xmlns:a="http://schemas.openxmlformats.org/drawingml/2006/main">
            <a:off x="704850" y="2967038"/>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11:09-11:17</a:t>
            </a:r>
          </a:p>
        </p:txBody>
      </p:sp>
      <p:sp>
        <p:nvSpPr>
          <p:cNvPr id="18" name="">
            <a:extLst xmlns:a="http://schemas.openxmlformats.org/drawingml/2006/main">
              <a:ext uri="{FF2B5EF4-FFF2-40B4-BE49-F238E27FC236}">
                <a16:creationId xmlns:a16="http://schemas.microsoft.com/office/drawing/2014/main" id="{20D228BD-F1F3-4E43-8A4B-6C3C21F6A2B8}"/>
              </a:ext>
            </a:extLst>
          </p:cNvPr>
          <p:cNvSpPr>
            <a:spLocks xmlns:a="http://schemas.openxmlformats.org/drawingml/2006/main" noGrp="1"/>
          </p:cNvSpPr>
          <p:nvPr/>
        </p:nvSpPr>
        <p:spPr>
          <a:xfrm xmlns:a="http://schemas.openxmlformats.org/drawingml/2006/main">
            <a:off x="2647950" y="2967038"/>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Save evidence, count, and power off</a:t>
            </a:r>
          </a:p>
        </p:txBody>
      </p:sp>
      <p:sp>
        <p:nvSpPr>
          <p:cNvPr id="19" name="">
            <a:extLst xmlns:a="http://schemas.openxmlformats.org/drawingml/2006/main">
              <a:ext uri="{FF2B5EF4-FFF2-40B4-BE49-F238E27FC236}">
                <a16:creationId xmlns:a16="http://schemas.microsoft.com/office/drawing/2014/main" id="{084AF6A6-5002-4C82-952E-46FCB216E657}"/>
              </a:ext>
            </a:extLst>
          </p:cNvPr>
          <p:cNvSpPr>
            <a:spLocks xmlns:a="http://schemas.openxmlformats.org/drawingml/2006/main" noGrp="1"/>
          </p:cNvSpPr>
          <p:nvPr/>
        </p:nvSpPr>
        <p:spPr>
          <a:xfrm xmlns:a="http://schemas.openxmlformats.org/drawingml/2006/main">
            <a:off x="8724900" y="2967038"/>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Short reset break</a:t>
            </a:r>
          </a:p>
        </p:txBody>
      </p:sp>
      <p:sp>
        <p:nvSpPr>
          <p:cNvPr id="20" name="">
            <a:extLst xmlns:a="http://schemas.openxmlformats.org/drawingml/2006/main">
              <a:ext uri="{FF2B5EF4-FFF2-40B4-BE49-F238E27FC236}">
                <a16:creationId xmlns:a16="http://schemas.microsoft.com/office/drawing/2014/main" id="{EBF8B716-1BB5-4EA9-AE76-F62444B356CE}"/>
              </a:ext>
            </a:extLst>
          </p:cNvPr>
          <p:cNvSpPr>
            <a:spLocks xmlns:a="http://schemas.openxmlformats.org/drawingml/2006/main" noGrp="1"/>
          </p:cNvSpPr>
          <p:nvPr/>
        </p:nvSpPr>
        <p:spPr>
          <a:xfrm xmlns:a="http://schemas.openxmlformats.org/drawingml/2006/main">
            <a:off x="457200" y="3402806"/>
            <a:ext cx="76200" cy="492919"/>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F9B4E8E-798A-4EFD-8D98-6079B1BCFBC4}"/>
              </a:ext>
            </a:extLst>
          </p:cNvPr>
          <p:cNvSpPr>
            <a:spLocks xmlns:a="http://schemas.openxmlformats.org/drawingml/2006/main" noGrp="1"/>
          </p:cNvSpPr>
          <p:nvPr/>
        </p:nvSpPr>
        <p:spPr>
          <a:xfrm xmlns:a="http://schemas.openxmlformats.org/drawingml/2006/main">
            <a:off x="704850" y="3479006"/>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11:17-11:45</a:t>
            </a:r>
          </a:p>
        </p:txBody>
      </p:sp>
      <p:sp>
        <p:nvSpPr>
          <p:cNvPr id="22" name="">
            <a:extLst xmlns:a="http://schemas.openxmlformats.org/drawingml/2006/main">
              <a:ext uri="{FF2B5EF4-FFF2-40B4-BE49-F238E27FC236}">
                <a16:creationId xmlns:a16="http://schemas.microsoft.com/office/drawing/2014/main" id="{151CD073-67B3-474E-945E-6BBD9C88D59C}"/>
              </a:ext>
            </a:extLst>
          </p:cNvPr>
          <p:cNvSpPr>
            <a:spLocks xmlns:a="http://schemas.openxmlformats.org/drawingml/2006/main" noGrp="1"/>
          </p:cNvSpPr>
          <p:nvPr/>
        </p:nvSpPr>
        <p:spPr>
          <a:xfrm xmlns:a="http://schemas.openxmlformats.org/drawingml/2006/main">
            <a:off x="2647950" y="3479006"/>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Share, paper symbol, and NeoPixel preview</a:t>
            </a:r>
          </a:p>
        </p:txBody>
      </p:sp>
      <p:sp>
        <p:nvSpPr>
          <p:cNvPr id="23" name="">
            <a:extLst xmlns:a="http://schemas.openxmlformats.org/drawingml/2006/main">
              <a:ext uri="{FF2B5EF4-FFF2-40B4-BE49-F238E27FC236}">
                <a16:creationId xmlns:a16="http://schemas.microsoft.com/office/drawing/2014/main" id="{10AFC2D8-4734-47A3-AD9E-1192BF14C671}"/>
              </a:ext>
            </a:extLst>
          </p:cNvPr>
          <p:cNvSpPr>
            <a:spLocks xmlns:a="http://schemas.openxmlformats.org/drawingml/2006/main" noGrp="1"/>
          </p:cNvSpPr>
          <p:nvPr/>
        </p:nvSpPr>
        <p:spPr>
          <a:xfrm xmlns:a="http://schemas.openxmlformats.org/drawingml/2006/main">
            <a:off x="8724900" y="3479006"/>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8 + 10 + 10 minutes</a:t>
            </a:r>
          </a:p>
        </p:txBody>
      </p:sp>
      <p:sp>
        <p:nvSpPr>
          <p:cNvPr id="24" name="">
            <a:extLst xmlns:a="http://schemas.openxmlformats.org/drawingml/2006/main">
              <a:ext uri="{FF2B5EF4-FFF2-40B4-BE49-F238E27FC236}">
                <a16:creationId xmlns:a16="http://schemas.microsoft.com/office/drawing/2014/main" id="{4852244A-3569-4E86-AC5E-CA00985573D6}"/>
              </a:ext>
            </a:extLst>
          </p:cNvPr>
          <p:cNvSpPr>
            <a:spLocks xmlns:a="http://schemas.openxmlformats.org/drawingml/2006/main" noGrp="1"/>
          </p:cNvSpPr>
          <p:nvPr/>
        </p:nvSpPr>
        <p:spPr>
          <a:xfrm xmlns:a="http://schemas.openxmlformats.org/drawingml/2006/main">
            <a:off x="457200" y="3914775"/>
            <a:ext cx="11277600" cy="492919"/>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CDDEB23-D080-4C10-A4A0-FAC3901C7C25}"/>
              </a:ext>
            </a:extLst>
          </p:cNvPr>
          <p:cNvSpPr>
            <a:spLocks xmlns:a="http://schemas.openxmlformats.org/drawingml/2006/main" noGrp="1"/>
          </p:cNvSpPr>
          <p:nvPr/>
        </p:nvSpPr>
        <p:spPr>
          <a:xfrm xmlns:a="http://schemas.openxmlformats.org/drawingml/2006/main">
            <a:off x="457200" y="3914775"/>
            <a:ext cx="76200" cy="492919"/>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FBA8B6-57A9-4173-A7CC-FDD384FB8A49}"/>
              </a:ext>
            </a:extLst>
          </p:cNvPr>
          <p:cNvSpPr>
            <a:spLocks xmlns:a="http://schemas.openxmlformats.org/drawingml/2006/main" noGrp="1"/>
          </p:cNvSpPr>
          <p:nvPr/>
        </p:nvSpPr>
        <p:spPr>
          <a:xfrm xmlns:a="http://schemas.openxmlformats.org/drawingml/2006/main">
            <a:off x="704850" y="3990975"/>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11:45-12:42</a:t>
            </a:r>
          </a:p>
        </p:txBody>
      </p:sp>
      <p:sp>
        <p:nvSpPr>
          <p:cNvPr id="27" name="">
            <a:extLst xmlns:a="http://schemas.openxmlformats.org/drawingml/2006/main">
              <a:ext uri="{FF2B5EF4-FFF2-40B4-BE49-F238E27FC236}">
                <a16:creationId xmlns:a16="http://schemas.microsoft.com/office/drawing/2014/main" id="{D813715B-5F36-4584-A5B9-8C8245980068}"/>
              </a:ext>
            </a:extLst>
          </p:cNvPr>
          <p:cNvSpPr>
            <a:spLocks xmlns:a="http://schemas.openxmlformats.org/drawingml/2006/main" noGrp="1"/>
          </p:cNvSpPr>
          <p:nvPr/>
        </p:nvSpPr>
        <p:spPr>
          <a:xfrm xmlns:a="http://schemas.openxmlformats.org/drawingml/2006/main">
            <a:off x="2647950" y="3990975"/>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Three ideas, selection, and labeled sketches</a:t>
            </a:r>
          </a:p>
        </p:txBody>
      </p:sp>
      <p:sp>
        <p:nvSpPr>
          <p:cNvPr id="28" name="">
            <a:extLst xmlns:a="http://schemas.openxmlformats.org/drawingml/2006/main">
              <a:ext uri="{FF2B5EF4-FFF2-40B4-BE49-F238E27FC236}">
                <a16:creationId xmlns:a16="http://schemas.microsoft.com/office/drawing/2014/main" id="{AFFDDE28-B70A-4979-A108-2EAAE4884C5E}"/>
              </a:ext>
            </a:extLst>
          </p:cNvPr>
          <p:cNvSpPr>
            <a:spLocks xmlns:a="http://schemas.openxmlformats.org/drawingml/2006/main" noGrp="1"/>
          </p:cNvSpPr>
          <p:nvPr/>
        </p:nvSpPr>
        <p:spPr>
          <a:xfrm xmlns:a="http://schemas.openxmlformats.org/drawingml/2006/main">
            <a:off x="8724900" y="3990975"/>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Explain your choice</a:t>
            </a:r>
          </a:p>
        </p:txBody>
      </p:sp>
      <p:sp>
        <p:nvSpPr>
          <p:cNvPr id="29" name="">
            <a:extLst xmlns:a="http://schemas.openxmlformats.org/drawingml/2006/main">
              <a:ext uri="{FF2B5EF4-FFF2-40B4-BE49-F238E27FC236}">
                <a16:creationId xmlns:a16="http://schemas.microsoft.com/office/drawing/2014/main" id="{DECA4433-AFB2-4DA9-A6EF-FF75AD5502F6}"/>
              </a:ext>
            </a:extLst>
          </p:cNvPr>
          <p:cNvSpPr>
            <a:spLocks xmlns:a="http://schemas.openxmlformats.org/drawingml/2006/main" noGrp="1"/>
          </p:cNvSpPr>
          <p:nvPr/>
        </p:nvSpPr>
        <p:spPr>
          <a:xfrm xmlns:a="http://schemas.openxmlformats.org/drawingml/2006/main">
            <a:off x="457200" y="4426744"/>
            <a:ext cx="76200" cy="492919"/>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F6B4E25-1E86-444C-84EE-93BE5C6EDDA1}"/>
              </a:ext>
            </a:extLst>
          </p:cNvPr>
          <p:cNvSpPr>
            <a:spLocks xmlns:a="http://schemas.openxmlformats.org/drawingml/2006/main" noGrp="1"/>
          </p:cNvSpPr>
          <p:nvPr/>
        </p:nvSpPr>
        <p:spPr>
          <a:xfrm xmlns:a="http://schemas.openxmlformats.org/drawingml/2006/main">
            <a:off x="704850" y="4502944"/>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12:42-1:12</a:t>
            </a:r>
          </a:p>
        </p:txBody>
      </p:sp>
      <p:sp>
        <p:nvSpPr>
          <p:cNvPr id="31" name="">
            <a:extLst xmlns:a="http://schemas.openxmlformats.org/drawingml/2006/main">
              <a:ext uri="{FF2B5EF4-FFF2-40B4-BE49-F238E27FC236}">
                <a16:creationId xmlns:a16="http://schemas.microsoft.com/office/drawing/2014/main" id="{F1D2A8E2-A590-457F-BCB1-B8197234E5F5}"/>
              </a:ext>
            </a:extLst>
          </p:cNvPr>
          <p:cNvSpPr>
            <a:spLocks xmlns:a="http://schemas.openxmlformats.org/drawingml/2006/main" noGrp="1"/>
          </p:cNvSpPr>
          <p:nvPr/>
        </p:nvSpPr>
        <p:spPr>
          <a:xfrm xmlns:a="http://schemas.openxmlformats.org/drawingml/2006/main">
            <a:off x="2647950" y="4502944"/>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Lunch</a:t>
            </a:r>
          </a:p>
        </p:txBody>
      </p:sp>
      <p:sp>
        <p:nvSpPr>
          <p:cNvPr id="32" name="">
            <a:extLst xmlns:a="http://schemas.openxmlformats.org/drawingml/2006/main">
              <a:ext uri="{FF2B5EF4-FFF2-40B4-BE49-F238E27FC236}">
                <a16:creationId xmlns:a16="http://schemas.microsoft.com/office/drawing/2014/main" id="{F482BA2E-0088-44EF-9DE0-D9CB82C34739}"/>
              </a:ext>
            </a:extLst>
          </p:cNvPr>
          <p:cNvSpPr>
            <a:spLocks xmlns:a="http://schemas.openxmlformats.org/drawingml/2006/main" noGrp="1"/>
          </p:cNvSpPr>
          <p:nvPr/>
        </p:nvSpPr>
        <p:spPr>
          <a:xfrm xmlns:a="http://schemas.openxmlformats.org/drawingml/2006/main">
            <a:off x="8724900" y="4502944"/>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Return by 1:16</a:t>
            </a:r>
          </a:p>
        </p:txBody>
      </p:sp>
      <p:sp>
        <p:nvSpPr>
          <p:cNvPr id="33" name="">
            <a:extLst xmlns:a="http://schemas.openxmlformats.org/drawingml/2006/main">
              <a:ext uri="{FF2B5EF4-FFF2-40B4-BE49-F238E27FC236}">
                <a16:creationId xmlns:a16="http://schemas.microsoft.com/office/drawing/2014/main" id="{70ED699A-6E4B-4B01-B4EB-4A498E2EB793}"/>
              </a:ext>
            </a:extLst>
          </p:cNvPr>
          <p:cNvSpPr>
            <a:spLocks xmlns:a="http://schemas.openxmlformats.org/drawingml/2006/main" noGrp="1"/>
          </p:cNvSpPr>
          <p:nvPr/>
        </p:nvSpPr>
        <p:spPr>
          <a:xfrm xmlns:a="http://schemas.openxmlformats.org/drawingml/2006/main">
            <a:off x="457200" y="4938713"/>
            <a:ext cx="11277600" cy="492919"/>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75ED541-248F-43F3-B473-B88AD7E66F23}"/>
              </a:ext>
            </a:extLst>
          </p:cNvPr>
          <p:cNvSpPr>
            <a:spLocks xmlns:a="http://schemas.openxmlformats.org/drawingml/2006/main" noGrp="1"/>
          </p:cNvSpPr>
          <p:nvPr/>
        </p:nvSpPr>
        <p:spPr>
          <a:xfrm xmlns:a="http://schemas.openxmlformats.org/drawingml/2006/main">
            <a:off x="457200" y="4938713"/>
            <a:ext cx="76200" cy="492919"/>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785F4D5-86E1-4D7B-AA75-9DE61F0B8008}"/>
              </a:ext>
            </a:extLst>
          </p:cNvPr>
          <p:cNvSpPr>
            <a:spLocks xmlns:a="http://schemas.openxmlformats.org/drawingml/2006/main" noGrp="1"/>
          </p:cNvSpPr>
          <p:nvPr/>
        </p:nvSpPr>
        <p:spPr>
          <a:xfrm xmlns:a="http://schemas.openxmlformats.org/drawingml/2006/main">
            <a:off x="704850" y="5014913"/>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1:16-2:21</a:t>
            </a:r>
          </a:p>
        </p:txBody>
      </p:sp>
      <p:sp>
        <p:nvSpPr>
          <p:cNvPr id="36" name="">
            <a:extLst xmlns:a="http://schemas.openxmlformats.org/drawingml/2006/main">
              <a:ext uri="{FF2B5EF4-FFF2-40B4-BE49-F238E27FC236}">
                <a16:creationId xmlns:a16="http://schemas.microsoft.com/office/drawing/2014/main" id="{35D77850-DFE2-4B4D-9775-3D778C4366EE}"/>
              </a:ext>
            </a:extLst>
          </p:cNvPr>
          <p:cNvSpPr>
            <a:spLocks xmlns:a="http://schemas.openxmlformats.org/drawingml/2006/main" noGrp="1"/>
          </p:cNvSpPr>
          <p:nvPr/>
        </p:nvSpPr>
        <p:spPr>
          <a:xfrm xmlns:a="http://schemas.openxmlformats.org/drawingml/2006/main">
            <a:off x="2647950" y="5014913"/>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Proposals, mentor reviews, pitches, and revisions</a:t>
            </a:r>
          </a:p>
        </p:txBody>
      </p:sp>
      <p:sp>
        <p:nvSpPr>
          <p:cNvPr id="37" name="">
            <a:extLst xmlns:a="http://schemas.openxmlformats.org/drawingml/2006/main">
              <a:ext uri="{FF2B5EF4-FFF2-40B4-BE49-F238E27FC236}">
                <a16:creationId xmlns:a16="http://schemas.microsoft.com/office/drawing/2014/main" id="{EE0C8CD8-E2B1-436A-9E80-EEDB0ACC9169}"/>
              </a:ext>
            </a:extLst>
          </p:cNvPr>
          <p:cNvSpPr>
            <a:spLocks xmlns:a="http://schemas.openxmlformats.org/drawingml/2006/main" noGrp="1"/>
          </p:cNvSpPr>
          <p:nvPr/>
        </p:nvSpPr>
        <p:spPr>
          <a:xfrm xmlns:a="http://schemas.openxmlformats.org/drawingml/2006/main">
            <a:off x="8724900" y="5014913"/>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Next test and owner</a:t>
            </a:r>
          </a:p>
        </p:txBody>
      </p:sp>
      <p:sp>
        <p:nvSpPr>
          <p:cNvPr id="38" name="">
            <a:extLst xmlns:a="http://schemas.openxmlformats.org/drawingml/2006/main">
              <a:ext uri="{FF2B5EF4-FFF2-40B4-BE49-F238E27FC236}">
                <a16:creationId xmlns:a16="http://schemas.microsoft.com/office/drawing/2014/main" id="{57EEFD84-44E4-44F3-8541-F0C7E902940F}"/>
              </a:ext>
            </a:extLst>
          </p:cNvPr>
          <p:cNvSpPr>
            <a:spLocks xmlns:a="http://schemas.openxmlformats.org/drawingml/2006/main" noGrp="1"/>
          </p:cNvSpPr>
          <p:nvPr/>
        </p:nvSpPr>
        <p:spPr>
          <a:xfrm xmlns:a="http://schemas.openxmlformats.org/drawingml/2006/main">
            <a:off x="457200" y="5450681"/>
            <a:ext cx="76200" cy="492919"/>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760E8E9-5740-4D75-BD28-D5AC9BA5A583}"/>
              </a:ext>
            </a:extLst>
          </p:cNvPr>
          <p:cNvSpPr>
            <a:spLocks xmlns:a="http://schemas.openxmlformats.org/drawingml/2006/main" noGrp="1"/>
          </p:cNvSpPr>
          <p:nvPr/>
        </p:nvSpPr>
        <p:spPr>
          <a:xfrm xmlns:a="http://schemas.openxmlformats.org/drawingml/2006/main">
            <a:off x="704850" y="5526881"/>
            <a:ext cx="18097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18233A"/>
                </a:solidFill>
                <a:latin typeface="Aptos"/>
                <a:ea typeface="Aptos"/>
                <a:cs typeface="Aptos"/>
              </a:defRPr>
            </a:pPr>
            <a:r>
              <a:rPr sz="1575" b="1">
                <a:solidFill>
                  <a:srgbClr val="18233A"/>
                </a:solidFill>
                <a:latin typeface="Aptos"/>
                <a:ea typeface="Aptos"/>
                <a:cs typeface="Aptos"/>
              </a:rPr>
              <a:t>2:21-2:41</a:t>
            </a:r>
          </a:p>
        </p:txBody>
      </p:sp>
      <p:sp>
        <p:nvSpPr>
          <p:cNvPr id="40" name="">
            <a:extLst xmlns:a="http://schemas.openxmlformats.org/drawingml/2006/main">
              <a:ext uri="{FF2B5EF4-FFF2-40B4-BE49-F238E27FC236}">
                <a16:creationId xmlns:a16="http://schemas.microsoft.com/office/drawing/2014/main" id="{C833F7CB-F643-4454-99B6-A42FB7465966}"/>
              </a:ext>
            </a:extLst>
          </p:cNvPr>
          <p:cNvSpPr>
            <a:spLocks xmlns:a="http://schemas.openxmlformats.org/drawingml/2006/main" noGrp="1"/>
          </p:cNvSpPr>
          <p:nvPr/>
        </p:nvSpPr>
        <p:spPr>
          <a:xfrm xmlns:a="http://schemas.openxmlformats.org/drawingml/2006/main">
            <a:off x="2647950" y="5526881"/>
            <a:ext cx="590550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18233A"/>
                </a:solidFill>
                <a:latin typeface="Aptos"/>
                <a:ea typeface="Aptos"/>
                <a:cs typeface="Aptos"/>
              </a:defRPr>
            </a:pPr>
            <a:r>
              <a:rPr sz="1575" b="0">
                <a:solidFill>
                  <a:srgbClr val="18233A"/>
                </a:solidFill>
                <a:latin typeface="Aptos"/>
                <a:ea typeface="Aptos"/>
                <a:cs typeface="Aptos"/>
              </a:rPr>
              <a:t>Save, count, power off, label, and store</a:t>
            </a:r>
          </a:p>
        </p:txBody>
      </p:sp>
      <p:sp>
        <p:nvSpPr>
          <p:cNvPr id="41" name="">
            <a:extLst xmlns:a="http://schemas.openxmlformats.org/drawingml/2006/main">
              <a:ext uri="{FF2B5EF4-FFF2-40B4-BE49-F238E27FC236}">
                <a16:creationId xmlns:a16="http://schemas.microsoft.com/office/drawing/2014/main" id="{E0BB96FC-3271-4FC7-ADE1-F14D98F230B7}"/>
              </a:ext>
            </a:extLst>
          </p:cNvPr>
          <p:cNvSpPr>
            <a:spLocks xmlns:a="http://schemas.openxmlformats.org/drawingml/2006/main" noGrp="1"/>
          </p:cNvSpPr>
          <p:nvPr/>
        </p:nvSpPr>
        <p:spPr>
          <a:xfrm xmlns:a="http://schemas.openxmlformats.org/drawingml/2006/main">
            <a:off x="8724900" y="5526881"/>
            <a:ext cx="27622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350" b="1">
                <a:solidFill>
                  <a:srgbClr val="5F3DC4"/>
                </a:solidFill>
                <a:latin typeface="Aptos"/>
                <a:ea typeface="Aptos"/>
                <a:cs typeface="Aptos"/>
              </a:defRPr>
            </a:pPr>
            <a:r>
              <a:rPr sz="1350" b="1">
                <a:solidFill>
                  <a:srgbClr val="5F3DC4"/>
                </a:solidFill>
                <a:latin typeface="Aptos"/>
                <a:ea typeface="Aptos"/>
                <a:cs typeface="Aptos"/>
              </a:rPr>
              <a:t>Ready for dismissal</a:t>
            </a:r>
          </a:p>
        </p:txBody>
      </p:sp>
      <p:sp>
        <p:nvSpPr>
          <p:cNvPr id="42" name="">
            <a:extLst xmlns:a="http://schemas.openxmlformats.org/drawingml/2006/main">
              <a:ext uri="{FF2B5EF4-FFF2-40B4-BE49-F238E27FC236}">
                <a16:creationId xmlns:a16="http://schemas.microsoft.com/office/drawing/2014/main" id="{7B2D09BF-53A8-4D25-9E81-76060E24C6AA}"/>
              </a:ext>
            </a:extLst>
          </p:cNvPr>
          <p:cNvSpPr>
            <a:spLocks xmlns:a="http://schemas.openxmlformats.org/drawingml/2006/main" noGrp="1"/>
          </p:cNvSpPr>
          <p:nvPr/>
        </p:nvSpPr>
        <p:spPr>
          <a:xfrm xmlns:a="http://schemas.openxmlformats.org/drawingml/2006/main">
            <a:off x="457200" y="611505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5F3DC4"/>
                </a:solidFill>
                <a:latin typeface="Aptos"/>
                <a:ea typeface="Aptos"/>
                <a:cs typeface="Aptos"/>
              </a:defRPr>
            </a:pPr>
            <a:r>
              <a:rPr sz="1500" b="1">
                <a:solidFill>
                  <a:srgbClr val="5F3DC4"/>
                </a:solidFill>
                <a:latin typeface="Aptos"/>
                <a:ea typeface="Aptos"/>
                <a:cs typeface="Aptos"/>
              </a:rPr>
              <a:t>Power off and return counted tools before every break.</a:t>
            </a:r>
          </a:p>
        </p:txBody>
      </p:sp>
      <p:sp>
        <p:nvSpPr>
          <p:cNvPr id="43" name="">
            <a:extLst xmlns:a="http://schemas.openxmlformats.org/drawingml/2006/main">
              <a:ext uri="{FF2B5EF4-FFF2-40B4-BE49-F238E27FC236}">
                <a16:creationId xmlns:a16="http://schemas.microsoft.com/office/drawing/2014/main" id="{332F0D4C-EA63-4A7C-9282-AC7562D7B73C}"/>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13C5027-0BE6-42FC-9F8A-E6B092C368FC}"/>
              </a:ext>
            </a:extLst>
          </p:cNvPr>
          <p:cNvSpPr>
            <a:spLocks xmlns:a="http://schemas.openxmlformats.org/drawingml/2006/main" noGrp="1"/>
          </p:cNvSpPr>
          <p:nvPr/>
        </p:nvSpPr>
        <p:spPr>
          <a:xfrm xmlns:a="http://schemas.openxmlformats.org/drawingml/2006/main">
            <a:off x="457200" y="6515100"/>
            <a:ext cx="28194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1CA689E-CEC4-4303-AE0E-9D1C4C35DD2B}"/>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46" name="">
            <a:extLst xmlns:a="http://schemas.openxmlformats.org/drawingml/2006/main">
              <a:ext uri="{FF2B5EF4-FFF2-40B4-BE49-F238E27FC236}">
                <a16:creationId xmlns:a16="http://schemas.microsoft.com/office/drawing/2014/main" id="{BC049E7E-61D2-4B83-AA8D-BB48AB4813C6}"/>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677769014"/>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762AE7-B961-4B50-BB8C-CC6E83DC51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3A0000-0E39-40B0-95DB-8975AB2343EC}"/>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12ABA3C7-D897-45C0-944A-2AF9792B0598}"/>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3/8</a:t>
            </a:r>
          </a:p>
        </p:txBody>
      </p:sp>
      <p:sp>
        <p:nvSpPr>
          <p:cNvPr id="4" name="">
            <a:extLst xmlns:a="http://schemas.openxmlformats.org/drawingml/2006/main">
              <a:ext uri="{FF2B5EF4-FFF2-40B4-BE49-F238E27FC236}">
                <a16:creationId xmlns:a16="http://schemas.microsoft.com/office/drawing/2014/main" id="{C61A21D0-086A-4F81-B0E3-A5824F434EEA}"/>
              </a:ext>
            </a:extLst>
          </p:cNvPr>
          <p:cNvSpPr>
            <a:spLocks xmlns:a="http://schemas.openxmlformats.org/drawingml/2006/main" noGrp="1"/>
          </p:cNvSpPr>
          <p:nvPr/>
        </p:nvSpPr>
        <p:spPr>
          <a:xfrm xmlns:a="http://schemas.openxmlformats.org/drawingml/2006/main">
            <a:off x="457200" y="819150"/>
            <a:ext cx="2381250" cy="495300"/>
          </a:xfrm>
          <a:prstGeom xmlns:a="http://schemas.openxmlformats.org/drawingml/2006/main" prst="roundRect">
            <a:avLst>
              <a:gd name="adj" fmla="val 34615"/>
            </a:avLst>
          </a:prstGeom>
          <a:solidFill xmlns:a="http://schemas.openxmlformats.org/drawingml/2006/main">
            <a:srgbClr val="5F3DC4"/>
          </a:solidFill>
          <a:ln xmlns:a="http://schemas.openxmlformats.org/drawingml/2006/main" w="0">
            <a:noFill/>
            <a:prstDash val="solid"/>
          </a:ln>
        </p:spPr>
        <p:txBody>
          <a:bodyPr xmlns:a="http://schemas.openxmlformats.org/drawingml/2006/main" lIns="114300" tIns="47625" rIns="114300" bIns="47625" anchor="ctr">
            <a:normAutofit fontScale="100000"/>
          </a:bodyPr>
          <a:lstStyle xmlns:a="http://schemas.openxmlformats.org/drawingml/2006/main"/>
          <a:p xmlns:a="http://schemas.openxmlformats.org/drawingml/2006/main">
            <a:pPr algn="ctr">
              <a:buNone/>
              <a:defRPr sz="1950" b="1">
                <a:solidFill>
                  <a:srgbClr val="FFFFFF"/>
                </a:solidFill>
                <a:latin typeface="Aptos"/>
                <a:ea typeface="Aptos"/>
                <a:cs typeface="Aptos"/>
              </a:defRPr>
            </a:pPr>
            <a:r>
              <a:rPr sz="1950" b="1">
                <a:solidFill>
                  <a:srgbClr val="FFFFFF"/>
                </a:solidFill>
                <a:latin typeface="Aptos"/>
                <a:ea typeface="Aptos"/>
                <a:cs typeface="Aptos"/>
              </a:rPr>
              <a:t>8:20-11:09</a:t>
            </a:r>
          </a:p>
        </p:txBody>
      </p:sp>
      <p:sp>
        <p:nvSpPr>
          <p:cNvPr id="5" name="">
            <a:extLst xmlns:a="http://schemas.openxmlformats.org/drawingml/2006/main">
              <a:ext uri="{FF2B5EF4-FFF2-40B4-BE49-F238E27FC236}">
                <a16:creationId xmlns:a16="http://schemas.microsoft.com/office/drawing/2014/main" id="{EDE95CAA-B88E-4871-8431-08C4AC7E8126}"/>
              </a:ext>
            </a:extLst>
          </p:cNvPr>
          <p:cNvSpPr>
            <a:spLocks xmlns:a="http://schemas.openxmlformats.org/drawingml/2006/main" noGrp="1"/>
          </p:cNvSpPr>
          <p:nvPr/>
        </p:nvSpPr>
        <p:spPr>
          <a:xfrm xmlns:a="http://schemas.openxmlformats.org/drawingml/2006/main">
            <a:off x="3162300" y="742950"/>
            <a:ext cx="857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a:solidFill>
                  <a:srgbClr val="18233A"/>
                </a:solidFill>
                <a:latin typeface="Aptos Display"/>
                <a:ea typeface="Aptos Display"/>
                <a:cs typeface="Aptos Display"/>
              </a:defRPr>
            </a:pPr>
            <a:r>
              <a:rPr sz="3225" b="1">
                <a:solidFill>
                  <a:srgbClr val="18233A"/>
                </a:solidFill>
                <a:latin typeface="Aptos Display"/>
                <a:ea typeface="Aptos Display"/>
                <a:cs typeface="Aptos Display"/>
              </a:rPr>
              <a:t>Wearables practice</a:t>
            </a:r>
          </a:p>
        </p:txBody>
      </p:sp>
      <p:sp>
        <p:nvSpPr>
          <p:cNvPr id="6" name="">
            <a:extLst xmlns:a="http://schemas.openxmlformats.org/drawingml/2006/main">
              <a:ext uri="{FF2B5EF4-FFF2-40B4-BE49-F238E27FC236}">
                <a16:creationId xmlns:a16="http://schemas.microsoft.com/office/drawing/2014/main" id="{F63AF4A6-2AA5-4ACA-9569-B61598E12B57}"/>
              </a:ext>
            </a:extLst>
          </p:cNvPr>
          <p:cNvSpPr>
            <a:spLocks xmlns:a="http://schemas.openxmlformats.org/drawingml/2006/main" noGrp="1"/>
          </p:cNvSpPr>
          <p:nvPr/>
        </p:nvSpPr>
        <p:spPr>
          <a:xfrm xmlns:a="http://schemas.openxmlformats.org/drawingml/2006/main">
            <a:off x="457200" y="1619250"/>
            <a:ext cx="7391400" cy="4133850"/>
          </a:xfrm>
          <a:prstGeom xmlns:a="http://schemas.openxmlformats.org/drawingml/2006/main" prst="roundRect">
            <a:avLst>
              <a:gd name="adj" fmla="val 4147"/>
            </a:avLst>
          </a:prstGeom>
          <a:solidFill xmlns:a="http://schemas.openxmlformats.org/drawingml/2006/main">
            <a:srgbClr val="FFFFFF"/>
          </a:solidFill>
          <a:ln xmlns:a="http://schemas.openxmlformats.org/drawingml/2006/main" w="9525">
            <a:solidFill>
              <a:srgbClr val="DFE3EC"/>
            </a:solidFill>
            <a:prstDash val="solid"/>
          </a:ln>
        </p:spPr>
      </p:sp>
      <p:sp>
        <p:nvSpPr>
          <p:cNvPr id="7" name="">
            <a:extLst xmlns:a="http://schemas.openxmlformats.org/drawingml/2006/main">
              <a:ext uri="{FF2B5EF4-FFF2-40B4-BE49-F238E27FC236}">
                <a16:creationId xmlns:a16="http://schemas.microsoft.com/office/drawing/2014/main" id="{FB4D986B-3942-4045-9D3B-BA4480B919C5}"/>
              </a:ext>
            </a:extLst>
          </p:cNvPr>
          <p:cNvSpPr>
            <a:spLocks xmlns:a="http://schemas.openxmlformats.org/drawingml/2006/main" noGrp="1"/>
          </p:cNvSpPr>
          <p:nvPr/>
        </p:nvSpPr>
        <p:spPr>
          <a:xfrm xmlns:a="http://schemas.openxmlformats.org/drawingml/2006/main">
            <a:off x="723900" y="1885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W1-W3 WITH JENNIFER</a:t>
            </a:r>
          </a:p>
        </p:txBody>
      </p:sp>
      <p:sp>
        <p:nvSpPr>
          <p:cNvPr id="8" name="">
            <a:extLst xmlns:a="http://schemas.openxmlformats.org/drawingml/2006/main">
              <a:ext uri="{FF2B5EF4-FFF2-40B4-BE49-F238E27FC236}">
                <a16:creationId xmlns:a16="http://schemas.microsoft.com/office/drawing/2014/main" id="{36E64090-718A-4187-B251-51E201DA9966}"/>
              </a:ext>
            </a:extLst>
          </p:cNvPr>
          <p:cNvSpPr>
            <a:spLocks xmlns:a="http://schemas.openxmlformats.org/drawingml/2006/main" noGrp="1"/>
          </p:cNvSpPr>
          <p:nvPr/>
        </p:nvSpPr>
        <p:spPr>
          <a:xfrm xmlns:a="http://schemas.openxmlformats.org/drawingml/2006/main">
            <a:off x="723900" y="2305050"/>
            <a:ext cx="6858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Sew one felt LED circuit per practice pair.</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Battery out while sewing. Ask for inspection before power.</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At 10:05, return needles and open MakeCode.</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A = heart, B = happy, A+B = clear.</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Both partners code, test, and save their learning.</a:t>
            </a:r>
          </a:p>
        </p:txBody>
      </p:sp>
      <p:sp>
        <p:nvSpPr>
          <p:cNvPr id="9" name="">
            <a:extLst xmlns:a="http://schemas.openxmlformats.org/drawingml/2006/main">
              <a:ext uri="{FF2B5EF4-FFF2-40B4-BE49-F238E27FC236}">
                <a16:creationId xmlns:a16="http://schemas.microsoft.com/office/drawing/2014/main" id="{144692A6-64EF-4634-B615-293D7EDF8121}"/>
              </a:ext>
            </a:extLst>
          </p:cNvPr>
          <p:cNvSpPr>
            <a:spLocks xmlns:a="http://schemas.openxmlformats.org/drawingml/2006/main" noGrp="1"/>
          </p:cNvSpPr>
          <p:nvPr/>
        </p:nvSpPr>
        <p:spPr>
          <a:xfrm xmlns:a="http://schemas.openxmlformats.org/drawingml/2006/main">
            <a:off x="8115300" y="1619250"/>
            <a:ext cx="3619500" cy="4133850"/>
          </a:xfrm>
          <a:prstGeom xmlns:a="http://schemas.openxmlformats.org/drawingml/2006/main" prst="roundRect">
            <a:avLst>
              <a:gd name="adj" fmla="val 4737"/>
            </a:avLst>
          </a:prstGeom>
          <a:solidFill xmlns:a="http://schemas.openxmlformats.org/drawingml/2006/main">
            <a:srgbClr val="EFEA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F82DBF-DB78-4760-9FF0-8EC0BEFE69E6}"/>
              </a:ext>
            </a:extLst>
          </p:cNvPr>
          <p:cNvSpPr>
            <a:spLocks xmlns:a="http://schemas.openxmlformats.org/drawingml/2006/main" noGrp="1"/>
          </p:cNvSpPr>
          <p:nvPr/>
        </p:nvSpPr>
        <p:spPr>
          <a:xfrm xmlns:a="http://schemas.openxmlformats.org/drawingml/2006/main">
            <a:off x="8382000" y="1885950"/>
            <a:ext cx="308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FINISH LINE</a:t>
            </a:r>
          </a:p>
        </p:txBody>
      </p:sp>
      <p:sp>
        <p:nvSpPr>
          <p:cNvPr id="11" name="">
            <a:extLst xmlns:a="http://schemas.openxmlformats.org/drawingml/2006/main">
              <a:ext uri="{FF2B5EF4-FFF2-40B4-BE49-F238E27FC236}">
                <a16:creationId xmlns:a16="http://schemas.microsoft.com/office/drawing/2014/main" id="{62AF7943-108E-400B-BA46-02E1ABB95778}"/>
              </a:ext>
            </a:extLst>
          </p:cNvPr>
          <p:cNvSpPr>
            <a:spLocks xmlns:a="http://schemas.openxmlformats.org/drawingml/2006/main" noGrp="1"/>
          </p:cNvSpPr>
          <p:nvPr/>
        </p:nvSpPr>
        <p:spPr>
          <a:xfrm xmlns:a="http://schemas.openxmlformats.org/drawingml/2006/main">
            <a:off x="8382000" y="2343150"/>
            <a:ext cx="3086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8233A"/>
                </a:solidFill>
                <a:latin typeface="Aptos Display"/>
                <a:ea typeface="Aptos Display"/>
                <a:cs typeface="Aptos Display"/>
              </a:defRPr>
            </a:pPr>
            <a:r>
              <a:rPr sz="2250" b="1">
                <a:solidFill>
                  <a:srgbClr val="18233A"/>
                </a:solidFill>
                <a:latin typeface="Aptos Display"/>
                <a:ea typeface="Aptos Display"/>
                <a:cs typeface="Aptos Display"/>
              </a:rPr>
              <a:t>A circuit observation and a tested button response.</a:t>
            </a:r>
          </a:p>
        </p:txBody>
      </p:sp>
      <p:sp>
        <p:nvSpPr>
          <p:cNvPr id="12" name="">
            <a:extLst xmlns:a="http://schemas.openxmlformats.org/drawingml/2006/main">
              <a:ext uri="{FF2B5EF4-FFF2-40B4-BE49-F238E27FC236}">
                <a16:creationId xmlns:a16="http://schemas.microsoft.com/office/drawing/2014/main" id="{82BDBCC3-5F2B-40F8-B2EA-9E04C45B7A7A}"/>
              </a:ext>
            </a:extLst>
          </p:cNvPr>
          <p:cNvSpPr>
            <a:spLocks xmlns:a="http://schemas.openxmlformats.org/drawingml/2006/main" noGrp="1"/>
          </p:cNvSpPr>
          <p:nvPr/>
        </p:nvSpPr>
        <p:spPr>
          <a:xfrm xmlns:a="http://schemas.openxmlformats.org/drawingml/2006/main">
            <a:off x="8382000" y="4419600"/>
            <a:ext cx="514350" cy="5715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AF7E2C0-B3A1-4414-8755-E76FCBC5EB7C}"/>
              </a:ext>
            </a:extLst>
          </p:cNvPr>
          <p:cNvSpPr>
            <a:spLocks xmlns:a="http://schemas.openxmlformats.org/drawingml/2006/main" noGrp="1"/>
          </p:cNvSpPr>
          <p:nvPr/>
        </p:nvSpPr>
        <p:spPr>
          <a:xfrm xmlns:a="http://schemas.openxmlformats.org/drawingml/2006/main">
            <a:off x="8382000" y="4629150"/>
            <a:ext cx="3086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9657A"/>
                </a:solidFill>
                <a:latin typeface="Aptos"/>
                <a:ea typeface="Aptos"/>
                <a:cs typeface="Aptos"/>
              </a:defRPr>
            </a:pPr>
            <a:r>
              <a:rPr sz="1500" b="0">
                <a:solidFill>
                  <a:srgbClr val="59657A"/>
                </a:solidFill>
                <a:latin typeface="Aptos"/>
                <a:ea typeface="Aptos"/>
                <a:cs typeface="Aptos"/>
              </a:rPr>
              <a:t>Snack 9:25-9:38. Return by 9:42. Label simulator-only results.</a:t>
            </a:r>
          </a:p>
        </p:txBody>
      </p:sp>
      <p:sp>
        <p:nvSpPr>
          <p:cNvPr id="14" name="">
            <a:extLst xmlns:a="http://schemas.openxmlformats.org/drawingml/2006/main">
              <a:ext uri="{FF2B5EF4-FFF2-40B4-BE49-F238E27FC236}">
                <a16:creationId xmlns:a16="http://schemas.microsoft.com/office/drawing/2014/main" id="{93328652-67A0-465A-93EC-463A556BF7EC}"/>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95CDD94-78D2-413B-883A-3783E9169736}"/>
              </a:ext>
            </a:extLst>
          </p:cNvPr>
          <p:cNvSpPr>
            <a:spLocks xmlns:a="http://schemas.openxmlformats.org/drawingml/2006/main" noGrp="1"/>
          </p:cNvSpPr>
          <p:nvPr/>
        </p:nvSpPr>
        <p:spPr>
          <a:xfrm xmlns:a="http://schemas.openxmlformats.org/drawingml/2006/main">
            <a:off x="457200" y="6515100"/>
            <a:ext cx="42291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B1D0BE-DC4F-467F-843B-54F3480F576E}"/>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17" name="">
            <a:extLst xmlns:a="http://schemas.openxmlformats.org/drawingml/2006/main">
              <a:ext uri="{FF2B5EF4-FFF2-40B4-BE49-F238E27FC236}">
                <a16:creationId xmlns:a16="http://schemas.microsoft.com/office/drawing/2014/main" id="{31845EDF-AA7E-4813-A502-72676D07A8D8}"/>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1162138703"/>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4C9AA50-4F01-422A-A04E-7DB007AF041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EFBF08-322C-4746-8768-F824A8422C24}"/>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B8C9898D-6E93-47D5-952F-1FA49D725FE9}"/>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4/8</a:t>
            </a:r>
          </a:p>
        </p:txBody>
      </p:sp>
      <p:sp>
        <p:nvSpPr>
          <p:cNvPr id="4" name="">
            <a:extLst xmlns:a="http://schemas.openxmlformats.org/drawingml/2006/main">
              <a:ext uri="{FF2B5EF4-FFF2-40B4-BE49-F238E27FC236}">
                <a16:creationId xmlns:a16="http://schemas.microsoft.com/office/drawing/2014/main" id="{04758245-48AB-417B-A723-0DC48E56EEBD}"/>
              </a:ext>
            </a:extLst>
          </p:cNvPr>
          <p:cNvSpPr>
            <a:spLocks xmlns:a="http://schemas.openxmlformats.org/drawingml/2006/main" noGrp="1"/>
          </p:cNvSpPr>
          <p:nvPr/>
        </p:nvSpPr>
        <p:spPr>
          <a:xfrm xmlns:a="http://schemas.openxmlformats.org/drawingml/2006/main">
            <a:off x="457200" y="819150"/>
            <a:ext cx="2381250" cy="495300"/>
          </a:xfrm>
          <a:prstGeom xmlns:a="http://schemas.openxmlformats.org/drawingml/2006/main" prst="roundRect">
            <a:avLst>
              <a:gd name="adj" fmla="val 34615"/>
            </a:avLst>
          </a:prstGeom>
          <a:solidFill xmlns:a="http://schemas.openxmlformats.org/drawingml/2006/main">
            <a:srgbClr val="5F3DC4"/>
          </a:solidFill>
          <a:ln xmlns:a="http://schemas.openxmlformats.org/drawingml/2006/main" w="0">
            <a:noFill/>
            <a:prstDash val="solid"/>
          </a:ln>
        </p:spPr>
        <p:txBody>
          <a:bodyPr xmlns:a="http://schemas.openxmlformats.org/drawingml/2006/main" lIns="114300" tIns="47625" rIns="114300" bIns="47625" anchor="ctr">
            <a:normAutofit fontScale="100000"/>
          </a:bodyPr>
          <a:lstStyle xmlns:a="http://schemas.openxmlformats.org/drawingml/2006/main"/>
          <a:p xmlns:a="http://schemas.openxmlformats.org/drawingml/2006/main">
            <a:pPr algn="ctr">
              <a:buNone/>
              <a:defRPr sz="1950" b="1">
                <a:solidFill>
                  <a:srgbClr val="FFFFFF"/>
                </a:solidFill>
                <a:latin typeface="Aptos"/>
                <a:ea typeface="Aptos"/>
                <a:cs typeface="Aptos"/>
              </a:defRPr>
            </a:pPr>
            <a:r>
              <a:rPr sz="1950" b="1">
                <a:solidFill>
                  <a:srgbClr val="FFFFFF"/>
                </a:solidFill>
                <a:latin typeface="Aptos"/>
                <a:ea typeface="Aptos"/>
                <a:cs typeface="Aptos"/>
              </a:rPr>
              <a:t>8:20-11:09</a:t>
            </a:r>
          </a:p>
        </p:txBody>
      </p:sp>
      <p:sp>
        <p:nvSpPr>
          <p:cNvPr id="5" name="">
            <a:extLst xmlns:a="http://schemas.openxmlformats.org/drawingml/2006/main">
              <a:ext uri="{FF2B5EF4-FFF2-40B4-BE49-F238E27FC236}">
                <a16:creationId xmlns:a16="http://schemas.microsoft.com/office/drawing/2014/main" id="{7E0BD6D0-4DBC-47E2-95EE-A0F5C682739F}"/>
              </a:ext>
            </a:extLst>
          </p:cNvPr>
          <p:cNvSpPr>
            <a:spLocks xmlns:a="http://schemas.openxmlformats.org/drawingml/2006/main" noGrp="1"/>
          </p:cNvSpPr>
          <p:nvPr/>
        </p:nvSpPr>
        <p:spPr>
          <a:xfrm xmlns:a="http://schemas.openxmlformats.org/drawingml/2006/main">
            <a:off x="3162300" y="742950"/>
            <a:ext cx="857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a:solidFill>
                  <a:srgbClr val="18233A"/>
                </a:solidFill>
                <a:latin typeface="Aptos Display"/>
                <a:ea typeface="Aptos Display"/>
                <a:cs typeface="Aptos Display"/>
              </a:defRPr>
            </a:pPr>
            <a:r>
              <a:rPr sz="3225" b="1">
                <a:solidFill>
                  <a:srgbClr val="18233A"/>
                </a:solidFill>
                <a:latin typeface="Aptos Display"/>
                <a:ea typeface="Aptos Display"/>
                <a:cs typeface="Aptos Display"/>
              </a:rPr>
              <a:t>Robotics practice</a:t>
            </a:r>
          </a:p>
        </p:txBody>
      </p:sp>
      <p:sp>
        <p:nvSpPr>
          <p:cNvPr id="6" name="">
            <a:extLst xmlns:a="http://schemas.openxmlformats.org/drawingml/2006/main">
              <a:ext uri="{FF2B5EF4-FFF2-40B4-BE49-F238E27FC236}">
                <a16:creationId xmlns:a16="http://schemas.microsoft.com/office/drawing/2014/main" id="{BA214A50-CEAF-4604-91C2-3E2B96A205CE}"/>
              </a:ext>
            </a:extLst>
          </p:cNvPr>
          <p:cNvSpPr>
            <a:spLocks xmlns:a="http://schemas.openxmlformats.org/drawingml/2006/main" noGrp="1"/>
          </p:cNvSpPr>
          <p:nvPr/>
        </p:nvSpPr>
        <p:spPr>
          <a:xfrm xmlns:a="http://schemas.openxmlformats.org/drawingml/2006/main">
            <a:off x="457200" y="1619250"/>
            <a:ext cx="7391400" cy="4133850"/>
          </a:xfrm>
          <a:prstGeom xmlns:a="http://schemas.openxmlformats.org/drawingml/2006/main" prst="roundRect">
            <a:avLst>
              <a:gd name="adj" fmla="val 4147"/>
            </a:avLst>
          </a:prstGeom>
          <a:solidFill xmlns:a="http://schemas.openxmlformats.org/drawingml/2006/main">
            <a:srgbClr val="FFFFFF"/>
          </a:solidFill>
          <a:ln xmlns:a="http://schemas.openxmlformats.org/drawingml/2006/main" w="9525">
            <a:solidFill>
              <a:srgbClr val="DFE3EC"/>
            </a:solidFill>
            <a:prstDash val="solid"/>
          </a:ln>
        </p:spPr>
      </p:sp>
      <p:sp>
        <p:nvSpPr>
          <p:cNvPr id="7" name="">
            <a:extLst xmlns:a="http://schemas.openxmlformats.org/drawingml/2006/main">
              <a:ext uri="{FF2B5EF4-FFF2-40B4-BE49-F238E27FC236}">
                <a16:creationId xmlns:a16="http://schemas.microsoft.com/office/drawing/2014/main" id="{95609CFB-D230-48B6-A306-A647ECBA1A98}"/>
              </a:ext>
            </a:extLst>
          </p:cNvPr>
          <p:cNvSpPr>
            <a:spLocks xmlns:a="http://schemas.openxmlformats.org/drawingml/2006/main" noGrp="1"/>
          </p:cNvSpPr>
          <p:nvPr/>
        </p:nvSpPr>
        <p:spPr>
          <a:xfrm xmlns:a="http://schemas.openxmlformats.org/drawingml/2006/main">
            <a:off x="723900" y="1885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R1-R3 WITH STEPHANIE</a:t>
            </a:r>
          </a:p>
        </p:txBody>
      </p:sp>
      <p:sp>
        <p:nvSpPr>
          <p:cNvPr id="8" name="">
            <a:extLst xmlns:a="http://schemas.openxmlformats.org/drawingml/2006/main">
              <a:ext uri="{FF2B5EF4-FFF2-40B4-BE49-F238E27FC236}">
                <a16:creationId xmlns:a16="http://schemas.microsoft.com/office/drawing/2014/main" id="{A52DE52C-E466-4FDA-B3E4-D1626E01696C}"/>
              </a:ext>
            </a:extLst>
          </p:cNvPr>
          <p:cNvSpPr>
            <a:spLocks xmlns:a="http://schemas.openxmlformats.org/drawingml/2006/main" noGrp="1"/>
          </p:cNvSpPr>
          <p:nvPr/>
        </p:nvSpPr>
        <p:spPr>
          <a:xfrm xmlns:a="http://schemas.openxmlformats.org/drawingml/2006/main">
            <a:off x="723900" y="2305050"/>
            <a:ext cx="6858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Connect to your assigned Hummingbird Bit.</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Identify the actual input and its readings.</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Program a response using two output devices.</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Run three trials, change one thing, and retest.</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Swap Driver and Navigator. Save code and reset safely.</a:t>
            </a:r>
          </a:p>
        </p:txBody>
      </p:sp>
      <p:sp>
        <p:nvSpPr>
          <p:cNvPr id="9" name="">
            <a:extLst xmlns:a="http://schemas.openxmlformats.org/drawingml/2006/main">
              <a:ext uri="{FF2B5EF4-FFF2-40B4-BE49-F238E27FC236}">
                <a16:creationId xmlns:a16="http://schemas.microsoft.com/office/drawing/2014/main" id="{37A293B6-4A01-4748-AAC2-27C99675B9AD}"/>
              </a:ext>
            </a:extLst>
          </p:cNvPr>
          <p:cNvSpPr>
            <a:spLocks xmlns:a="http://schemas.openxmlformats.org/drawingml/2006/main" noGrp="1"/>
          </p:cNvSpPr>
          <p:nvPr/>
        </p:nvSpPr>
        <p:spPr>
          <a:xfrm xmlns:a="http://schemas.openxmlformats.org/drawingml/2006/main">
            <a:off x="8115300" y="1619250"/>
            <a:ext cx="3619500" cy="4133850"/>
          </a:xfrm>
          <a:prstGeom xmlns:a="http://schemas.openxmlformats.org/drawingml/2006/main" prst="roundRect">
            <a:avLst>
              <a:gd name="adj" fmla="val 4737"/>
            </a:avLst>
          </a:prstGeom>
          <a:solidFill xmlns:a="http://schemas.openxmlformats.org/drawingml/2006/main">
            <a:srgbClr val="EFEA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4006A1-5742-419E-89E1-6E132B2654C2}"/>
              </a:ext>
            </a:extLst>
          </p:cNvPr>
          <p:cNvSpPr>
            <a:spLocks xmlns:a="http://schemas.openxmlformats.org/drawingml/2006/main" noGrp="1"/>
          </p:cNvSpPr>
          <p:nvPr/>
        </p:nvSpPr>
        <p:spPr>
          <a:xfrm xmlns:a="http://schemas.openxmlformats.org/drawingml/2006/main">
            <a:off x="8382000" y="1885950"/>
            <a:ext cx="308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FINISH LINE</a:t>
            </a:r>
          </a:p>
        </p:txBody>
      </p:sp>
      <p:sp>
        <p:nvSpPr>
          <p:cNvPr id="11" name="">
            <a:extLst xmlns:a="http://schemas.openxmlformats.org/drawingml/2006/main">
              <a:ext uri="{FF2B5EF4-FFF2-40B4-BE49-F238E27FC236}">
                <a16:creationId xmlns:a16="http://schemas.microsoft.com/office/drawing/2014/main" id="{C0F4A0F5-45A0-4D15-B174-90AF2FEEF4CE}"/>
              </a:ext>
            </a:extLst>
          </p:cNvPr>
          <p:cNvSpPr>
            <a:spLocks xmlns:a="http://schemas.openxmlformats.org/drawingml/2006/main" noGrp="1"/>
          </p:cNvSpPr>
          <p:nvPr/>
        </p:nvSpPr>
        <p:spPr>
          <a:xfrm xmlns:a="http://schemas.openxmlformats.org/drawingml/2006/main">
            <a:off x="8382000" y="2343150"/>
            <a:ext cx="3086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8233A"/>
                </a:solidFill>
                <a:latin typeface="Aptos Display"/>
                <a:ea typeface="Aptos Display"/>
                <a:cs typeface="Aptos Display"/>
              </a:defRPr>
            </a:pPr>
            <a:r>
              <a:rPr sz="2250" b="1">
                <a:solidFill>
                  <a:srgbClr val="18233A"/>
                </a:solidFill>
                <a:latin typeface="Aptos Display"/>
                <a:ea typeface="Aptos Display"/>
                <a:cs typeface="Aptos Display"/>
              </a:rPr>
              <a:t>Explain your input, response, and safe reset.</a:t>
            </a:r>
          </a:p>
        </p:txBody>
      </p:sp>
      <p:sp>
        <p:nvSpPr>
          <p:cNvPr id="12" name="">
            <a:extLst xmlns:a="http://schemas.openxmlformats.org/drawingml/2006/main">
              <a:ext uri="{FF2B5EF4-FFF2-40B4-BE49-F238E27FC236}">
                <a16:creationId xmlns:a16="http://schemas.microsoft.com/office/drawing/2014/main" id="{D0057C5D-6FAF-4C9F-BC18-642E8AC6F4DC}"/>
              </a:ext>
            </a:extLst>
          </p:cNvPr>
          <p:cNvSpPr>
            <a:spLocks xmlns:a="http://schemas.openxmlformats.org/drawingml/2006/main" noGrp="1"/>
          </p:cNvSpPr>
          <p:nvPr/>
        </p:nvSpPr>
        <p:spPr>
          <a:xfrm xmlns:a="http://schemas.openxmlformats.org/drawingml/2006/main">
            <a:off x="8382000" y="4419600"/>
            <a:ext cx="514350" cy="5715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98F08E8-E568-45D9-AD98-EE15D98DBB70}"/>
              </a:ext>
            </a:extLst>
          </p:cNvPr>
          <p:cNvSpPr>
            <a:spLocks xmlns:a="http://schemas.openxmlformats.org/drawingml/2006/main" noGrp="1"/>
          </p:cNvSpPr>
          <p:nvPr/>
        </p:nvSpPr>
        <p:spPr>
          <a:xfrm xmlns:a="http://schemas.openxmlformats.org/drawingml/2006/main">
            <a:off x="8382000" y="4629150"/>
            <a:ext cx="3086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9657A"/>
                </a:solidFill>
                <a:latin typeface="Aptos"/>
                <a:ea typeface="Aptos"/>
                <a:cs typeface="Aptos"/>
              </a:defRPr>
            </a:pPr>
            <a:r>
              <a:rPr sz="1500" b="0">
                <a:solidFill>
                  <a:srgbClr val="59657A"/>
                </a:solidFill>
                <a:latin typeface="Aptos"/>
                <a:ea typeface="Aptos"/>
                <a:cs typeface="Aptos"/>
              </a:rPr>
              <a:t>Two LEDs are the fallback. Label untested motion or sensor work deferred.</a:t>
            </a:r>
          </a:p>
        </p:txBody>
      </p:sp>
      <p:sp>
        <p:nvSpPr>
          <p:cNvPr id="14" name="">
            <a:extLst xmlns:a="http://schemas.openxmlformats.org/drawingml/2006/main">
              <a:ext uri="{FF2B5EF4-FFF2-40B4-BE49-F238E27FC236}">
                <a16:creationId xmlns:a16="http://schemas.microsoft.com/office/drawing/2014/main" id="{ADC59259-756B-4C1A-A8EE-636C1732686A}"/>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2E343E-38D0-4EEF-9732-E62F717B0208}"/>
              </a:ext>
            </a:extLst>
          </p:cNvPr>
          <p:cNvSpPr>
            <a:spLocks xmlns:a="http://schemas.openxmlformats.org/drawingml/2006/main" noGrp="1"/>
          </p:cNvSpPr>
          <p:nvPr/>
        </p:nvSpPr>
        <p:spPr>
          <a:xfrm xmlns:a="http://schemas.openxmlformats.org/drawingml/2006/main">
            <a:off x="457200" y="6515100"/>
            <a:ext cx="56388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FF5B58A-F5C8-4CF7-A5DD-C8E6AC001F1A}"/>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17" name="">
            <a:extLst xmlns:a="http://schemas.openxmlformats.org/drawingml/2006/main">
              <a:ext uri="{FF2B5EF4-FFF2-40B4-BE49-F238E27FC236}">
                <a16:creationId xmlns:a16="http://schemas.microsoft.com/office/drawing/2014/main" id="{F9FDBAFD-DB4D-468C-BF90-898EA0AB5D2A}"/>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1990247521"/>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B5A5B1B-DFBD-4A62-92CC-CE4F972D8EE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72C41E-5944-4B6B-8882-27F79109F35C}"/>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65C310E5-65AD-48BB-BC10-0BF369626319}"/>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5/8</a:t>
            </a:r>
          </a:p>
        </p:txBody>
      </p:sp>
      <p:sp>
        <p:nvSpPr>
          <p:cNvPr id="4" name="">
            <a:extLst xmlns:a="http://schemas.openxmlformats.org/drawingml/2006/main">
              <a:ext uri="{FF2B5EF4-FFF2-40B4-BE49-F238E27FC236}">
                <a16:creationId xmlns:a16="http://schemas.microsoft.com/office/drawing/2014/main" id="{11C5CF91-4A73-4E40-9D52-C0681EA424FF}"/>
              </a:ext>
            </a:extLst>
          </p:cNvPr>
          <p:cNvSpPr>
            <a:spLocks xmlns:a="http://schemas.openxmlformats.org/drawingml/2006/main" noGrp="1"/>
          </p:cNvSpPr>
          <p:nvPr/>
        </p:nvSpPr>
        <p:spPr>
          <a:xfrm xmlns:a="http://schemas.openxmlformats.org/drawingml/2006/main">
            <a:off x="457200" y="7429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a:solidFill>
                  <a:srgbClr val="18233A"/>
                </a:solidFill>
                <a:latin typeface="Aptos Display"/>
                <a:ea typeface="Aptos Display"/>
                <a:cs typeface="Aptos Display"/>
              </a:defRPr>
            </a:pPr>
            <a:r>
              <a:rPr sz="3225" b="1">
                <a:solidFill>
                  <a:srgbClr val="18233A"/>
                </a:solidFill>
                <a:latin typeface="Aptos Display"/>
                <a:ea typeface="Aptos Display"/>
                <a:cs typeface="Aptos Display"/>
              </a:rPr>
              <a:t>11:17-11:45 / Share, draw, and observe</a:t>
            </a:r>
          </a:p>
        </p:txBody>
      </p:sp>
      <p:sp>
        <p:nvSpPr>
          <p:cNvPr id="5" name="">
            <a:extLst xmlns:a="http://schemas.openxmlformats.org/drawingml/2006/main">
              <a:ext uri="{FF2B5EF4-FFF2-40B4-BE49-F238E27FC236}">
                <a16:creationId xmlns:a16="http://schemas.microsoft.com/office/drawing/2014/main" id="{17A36D85-1EEC-4827-B045-023252C31400}"/>
              </a:ext>
            </a:extLst>
          </p:cNvPr>
          <p:cNvSpPr>
            <a:spLocks xmlns:a="http://schemas.openxmlformats.org/drawingml/2006/main" noGrp="1"/>
          </p:cNvSpPr>
          <p:nvPr/>
        </p:nvSpPr>
        <p:spPr>
          <a:xfrm xmlns:a="http://schemas.openxmlformats.org/drawingml/2006/main">
            <a:off x="457200" y="1676400"/>
            <a:ext cx="5524500" cy="4095750"/>
          </a:xfrm>
          <a:prstGeom xmlns:a="http://schemas.openxmlformats.org/drawingml/2006/main" prst="roundRect">
            <a:avLst>
              <a:gd name="adj" fmla="val 4186"/>
            </a:avLst>
          </a:prstGeom>
          <a:solidFill xmlns:a="http://schemas.openxmlformats.org/drawingml/2006/main">
            <a:srgbClr val="FFF0E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B30A93-AC0D-4CD3-9750-3715C9225358}"/>
              </a:ext>
            </a:extLst>
          </p:cNvPr>
          <p:cNvSpPr>
            <a:spLocks xmlns:a="http://schemas.openxmlformats.org/drawingml/2006/main" noGrp="1"/>
          </p:cNvSpPr>
          <p:nvPr/>
        </p:nvSpPr>
        <p:spPr>
          <a:xfrm xmlns:a="http://schemas.openxmlformats.org/drawingml/2006/main">
            <a:off x="723900" y="1924050"/>
            <a:ext cx="499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EE6C58"/>
                </a:solidFill>
                <a:latin typeface="Aptos Display"/>
                <a:ea typeface="Aptos Display"/>
                <a:cs typeface="Aptos Display"/>
              </a:defRPr>
            </a:pPr>
            <a:r>
              <a:rPr sz="2250" b="1">
                <a:solidFill>
                  <a:srgbClr val="EE6C58"/>
                </a:solidFill>
                <a:latin typeface="Aptos Display"/>
                <a:ea typeface="Aptos Display"/>
                <a:cs typeface="Aptos Display"/>
              </a:rPr>
              <a:t>PAPER FUTURE SYMBOL</a:t>
            </a:r>
          </a:p>
        </p:txBody>
      </p:sp>
      <p:sp>
        <p:nvSpPr>
          <p:cNvPr id="7" name="">
            <a:extLst xmlns:a="http://schemas.openxmlformats.org/drawingml/2006/main">
              <a:ext uri="{FF2B5EF4-FFF2-40B4-BE49-F238E27FC236}">
                <a16:creationId xmlns:a16="http://schemas.microsoft.com/office/drawing/2014/main" id="{912249A3-D6CC-4855-AF15-8C8965B5BEF2}"/>
              </a:ext>
            </a:extLst>
          </p:cNvPr>
          <p:cNvSpPr>
            <a:spLocks xmlns:a="http://schemas.openxmlformats.org/drawingml/2006/main" noGrp="1"/>
          </p:cNvSpPr>
          <p:nvPr/>
        </p:nvSpPr>
        <p:spPr>
          <a:xfrm xmlns:a="http://schemas.openxmlformats.org/drawingml/2006/main">
            <a:off x="723900" y="2647950"/>
            <a:ext cx="49911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After the 8-minute group share:</a:t>
            </a:r>
          </a:p>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Draw a symbol for a future need.</a:t>
            </a:r>
          </a:p>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Choose two colors and explain them.</a:t>
            </a:r>
          </a:p>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Save your paper or digital sketch.</a:t>
            </a:r>
          </a:p>
        </p:txBody>
      </p:sp>
      <p:sp>
        <p:nvSpPr>
          <p:cNvPr id="8" name="">
            <a:extLst xmlns:a="http://schemas.openxmlformats.org/drawingml/2006/main">
              <a:ext uri="{FF2B5EF4-FFF2-40B4-BE49-F238E27FC236}">
                <a16:creationId xmlns:a16="http://schemas.microsoft.com/office/drawing/2014/main" id="{A1A96DC6-66BB-465A-91F1-81A4756A93DE}"/>
              </a:ext>
            </a:extLst>
          </p:cNvPr>
          <p:cNvSpPr>
            <a:spLocks xmlns:a="http://schemas.openxmlformats.org/drawingml/2006/main" noGrp="1"/>
          </p:cNvSpPr>
          <p:nvPr/>
        </p:nvSpPr>
        <p:spPr>
          <a:xfrm xmlns:a="http://schemas.openxmlformats.org/drawingml/2006/main">
            <a:off x="723900" y="5219700"/>
            <a:ext cx="499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EE6C58"/>
                </a:solidFill>
                <a:latin typeface="Aptos"/>
                <a:ea typeface="Aptos"/>
                <a:cs typeface="Aptos"/>
              </a:defRPr>
            </a:pPr>
            <a:r>
              <a:rPr sz="1350" b="1">
                <a:solidFill>
                  <a:srgbClr val="EE6C58"/>
                </a:solidFill>
                <a:latin typeface="Aptos"/>
                <a:ea typeface="Aptos"/>
                <a:cs typeface="Aptos"/>
              </a:rPr>
              <a:t>10 minutes / Wooden stitching is deferred.</a:t>
            </a:r>
          </a:p>
        </p:txBody>
      </p:sp>
      <p:sp>
        <p:nvSpPr>
          <p:cNvPr id="9" name="">
            <a:extLst xmlns:a="http://schemas.openxmlformats.org/drawingml/2006/main">
              <a:ext uri="{FF2B5EF4-FFF2-40B4-BE49-F238E27FC236}">
                <a16:creationId xmlns:a16="http://schemas.microsoft.com/office/drawing/2014/main" id="{4A620924-D982-41C4-B214-9F62EE4CBB02}"/>
              </a:ext>
            </a:extLst>
          </p:cNvPr>
          <p:cNvSpPr>
            <a:spLocks xmlns:a="http://schemas.openxmlformats.org/drawingml/2006/main" noGrp="1"/>
          </p:cNvSpPr>
          <p:nvPr/>
        </p:nvSpPr>
        <p:spPr>
          <a:xfrm xmlns:a="http://schemas.openxmlformats.org/drawingml/2006/main">
            <a:off x="6210300" y="1676400"/>
            <a:ext cx="5524500" cy="4095750"/>
          </a:xfrm>
          <a:prstGeom xmlns:a="http://schemas.openxmlformats.org/drawingml/2006/main" prst="roundRect">
            <a:avLst>
              <a:gd name="adj" fmla="val 4186"/>
            </a:avLst>
          </a:prstGeom>
          <a:solidFill xmlns:a="http://schemas.openxmlformats.org/drawingml/2006/main">
            <a:srgbClr val="E7F6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6DA22B-7D1E-41BD-B7F7-407F7A03FBC8}"/>
              </a:ext>
            </a:extLst>
          </p:cNvPr>
          <p:cNvSpPr>
            <a:spLocks xmlns:a="http://schemas.openxmlformats.org/drawingml/2006/main" noGrp="1"/>
          </p:cNvSpPr>
          <p:nvPr/>
        </p:nvSpPr>
        <p:spPr>
          <a:xfrm xmlns:a="http://schemas.openxmlformats.org/drawingml/2006/main">
            <a:off x="6477000" y="1924050"/>
            <a:ext cx="499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68B88"/>
                </a:solidFill>
                <a:latin typeface="Aptos Display"/>
                <a:ea typeface="Aptos Display"/>
                <a:cs typeface="Aptos Display"/>
              </a:defRPr>
            </a:pPr>
            <a:r>
              <a:rPr sz="2250" b="1">
                <a:solidFill>
                  <a:srgbClr val="168B88"/>
                </a:solidFill>
                <a:latin typeface="Aptos Display"/>
                <a:ea typeface="Aptos Display"/>
                <a:cs typeface="Aptos Display"/>
              </a:rPr>
              <a:t>OBSERVED NEOPIXEL PREVIEW</a:t>
            </a:r>
          </a:p>
        </p:txBody>
      </p:sp>
      <p:sp>
        <p:nvSpPr>
          <p:cNvPr id="11" name="">
            <a:extLst xmlns:a="http://schemas.openxmlformats.org/drawingml/2006/main">
              <a:ext uri="{FF2B5EF4-FFF2-40B4-BE49-F238E27FC236}">
                <a16:creationId xmlns:a16="http://schemas.microsoft.com/office/drawing/2014/main" id="{F1031853-6EED-4EB4-82CE-8BE26117EF0B}"/>
              </a:ext>
            </a:extLst>
          </p:cNvPr>
          <p:cNvSpPr>
            <a:spLocks xmlns:a="http://schemas.openxmlformats.org/drawingml/2006/main" noGrp="1"/>
          </p:cNvSpPr>
          <p:nvPr/>
        </p:nvSpPr>
        <p:spPr>
          <a:xfrm xmlns:a="http://schemas.openxmlformats.org/drawingml/2006/main">
            <a:off x="6477000" y="2647950"/>
            <a:ext cx="49911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Watch the selected clip or diagram.</a:t>
            </a:r>
          </a:p>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Sketch a possible hat-light pattern.</a:t>
            </a:r>
          </a:p>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Describe A, B, and A+B off.</a:t>
            </a:r>
          </a:p>
          <a:p xmlns:a="http://schemas.openxmlformats.org/drawingml/2006/main">
            <a:pPr algn="l">
              <a:buNone/>
              <a:defRPr sz="1875" b="0">
                <a:solidFill>
                  <a:srgbClr val="18233A"/>
                </a:solidFill>
                <a:latin typeface="Aptos"/>
                <a:ea typeface="Aptos"/>
                <a:cs typeface="Aptos"/>
              </a:defRPr>
            </a:pPr>
            <a:r>
              <a:rPr sz="1875" b="0">
                <a:solidFill>
                  <a:srgbClr val="18233A"/>
                </a:solidFill>
                <a:latin typeface="Aptos"/>
                <a:ea typeface="Aptos"/>
                <a:cs typeface="Aptos"/>
              </a:rPr>
              <a:t>Label your evidence observed.</a:t>
            </a:r>
          </a:p>
        </p:txBody>
      </p:sp>
      <p:sp>
        <p:nvSpPr>
          <p:cNvPr id="12" name="">
            <a:extLst xmlns:a="http://schemas.openxmlformats.org/drawingml/2006/main">
              <a:ext uri="{FF2B5EF4-FFF2-40B4-BE49-F238E27FC236}">
                <a16:creationId xmlns:a16="http://schemas.microsoft.com/office/drawing/2014/main" id="{DB639E48-29B7-4906-ACAE-07B6B7294552}"/>
              </a:ext>
            </a:extLst>
          </p:cNvPr>
          <p:cNvSpPr>
            <a:spLocks xmlns:a="http://schemas.openxmlformats.org/drawingml/2006/main" noGrp="1"/>
          </p:cNvSpPr>
          <p:nvPr/>
        </p:nvSpPr>
        <p:spPr>
          <a:xfrm xmlns:a="http://schemas.openxmlformats.org/drawingml/2006/main">
            <a:off x="6477000" y="5219700"/>
            <a:ext cx="499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8B88"/>
                </a:solidFill>
                <a:latin typeface="Aptos"/>
                <a:ea typeface="Aptos"/>
                <a:cs typeface="Aptos"/>
              </a:defRPr>
            </a:pPr>
            <a:r>
              <a:rPr sz="1350" b="1">
                <a:solidFill>
                  <a:srgbClr val="168B88"/>
                </a:solidFill>
                <a:latin typeface="Aptos"/>
                <a:ea typeface="Aptos"/>
                <a:cs typeface="Aptos"/>
              </a:rPr>
              <a:t>10 minutes / Physical strip testing is deferred.</a:t>
            </a:r>
          </a:p>
        </p:txBody>
      </p:sp>
      <p:sp>
        <p:nvSpPr>
          <p:cNvPr id="13" name="">
            <a:extLst xmlns:a="http://schemas.openxmlformats.org/drawingml/2006/main">
              <a:ext uri="{FF2B5EF4-FFF2-40B4-BE49-F238E27FC236}">
                <a16:creationId xmlns:a16="http://schemas.microsoft.com/office/drawing/2014/main" id="{D8D42BD4-626D-4555-80F5-4862E2472607}"/>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E0C43F-405C-4B87-BD3A-65E01777886D}"/>
              </a:ext>
            </a:extLst>
          </p:cNvPr>
          <p:cNvSpPr>
            <a:spLocks xmlns:a="http://schemas.openxmlformats.org/drawingml/2006/main" noGrp="1"/>
          </p:cNvSpPr>
          <p:nvPr/>
        </p:nvSpPr>
        <p:spPr>
          <a:xfrm xmlns:a="http://schemas.openxmlformats.org/drawingml/2006/main">
            <a:off x="457200" y="6515100"/>
            <a:ext cx="70485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B72D262-1A6A-463D-8634-45D5DF62FD2A}"/>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16" name="">
            <a:extLst xmlns:a="http://schemas.openxmlformats.org/drawingml/2006/main">
              <a:ext uri="{FF2B5EF4-FFF2-40B4-BE49-F238E27FC236}">
                <a16:creationId xmlns:a16="http://schemas.microsoft.com/office/drawing/2014/main" id="{D6C197E3-E281-4C23-9A6E-6AEB1CA18E87}"/>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343388565"/>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9E018B8-0655-4325-B189-1269792F20C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BEC50A-1321-4A9A-A0EC-9F36D7C0842D}"/>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D191451B-0C0F-47DA-8561-D080FA101F46}"/>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6/8</a:t>
            </a:r>
          </a:p>
        </p:txBody>
      </p:sp>
      <p:sp>
        <p:nvSpPr>
          <p:cNvPr id="4" name="">
            <a:extLst xmlns:a="http://schemas.openxmlformats.org/drawingml/2006/main">
              <a:ext uri="{FF2B5EF4-FFF2-40B4-BE49-F238E27FC236}">
                <a16:creationId xmlns:a16="http://schemas.microsoft.com/office/drawing/2014/main" id="{57F850BF-8EF1-441B-BF42-7319D1911927}"/>
              </a:ext>
            </a:extLst>
          </p:cNvPr>
          <p:cNvSpPr>
            <a:spLocks xmlns:a="http://schemas.openxmlformats.org/drawingml/2006/main" noGrp="1"/>
          </p:cNvSpPr>
          <p:nvPr/>
        </p:nvSpPr>
        <p:spPr>
          <a:xfrm xmlns:a="http://schemas.openxmlformats.org/drawingml/2006/main">
            <a:off x="457200" y="819150"/>
            <a:ext cx="2381250" cy="495300"/>
          </a:xfrm>
          <a:prstGeom xmlns:a="http://schemas.openxmlformats.org/drawingml/2006/main" prst="roundRect">
            <a:avLst>
              <a:gd name="adj" fmla="val 34615"/>
            </a:avLst>
          </a:prstGeom>
          <a:solidFill xmlns:a="http://schemas.openxmlformats.org/drawingml/2006/main">
            <a:srgbClr val="5F3DC4"/>
          </a:solidFill>
          <a:ln xmlns:a="http://schemas.openxmlformats.org/drawingml/2006/main" w="0">
            <a:noFill/>
            <a:prstDash val="solid"/>
          </a:ln>
        </p:spPr>
        <p:txBody>
          <a:bodyPr xmlns:a="http://schemas.openxmlformats.org/drawingml/2006/main" lIns="114300" tIns="47625" rIns="114300" bIns="47625" anchor="ctr">
            <a:normAutofit fontScale="100000"/>
          </a:bodyPr>
          <a:lstStyle xmlns:a="http://schemas.openxmlformats.org/drawingml/2006/main"/>
          <a:p xmlns:a="http://schemas.openxmlformats.org/drawingml/2006/main">
            <a:pPr algn="ctr">
              <a:buNone/>
              <a:defRPr sz="1950" b="1">
                <a:solidFill>
                  <a:srgbClr val="FFFFFF"/>
                </a:solidFill>
                <a:latin typeface="Aptos"/>
                <a:ea typeface="Aptos"/>
                <a:cs typeface="Aptos"/>
              </a:defRPr>
            </a:pPr>
            <a:r>
              <a:rPr sz="1950" b="1">
                <a:solidFill>
                  <a:srgbClr val="FFFFFF"/>
                </a:solidFill>
                <a:latin typeface="Aptos"/>
                <a:ea typeface="Aptos"/>
                <a:cs typeface="Aptos"/>
              </a:rPr>
              <a:t>11:45-12:42</a:t>
            </a:r>
          </a:p>
        </p:txBody>
      </p:sp>
      <p:sp>
        <p:nvSpPr>
          <p:cNvPr id="5" name="">
            <a:extLst xmlns:a="http://schemas.openxmlformats.org/drawingml/2006/main">
              <a:ext uri="{FF2B5EF4-FFF2-40B4-BE49-F238E27FC236}">
                <a16:creationId xmlns:a16="http://schemas.microsoft.com/office/drawing/2014/main" id="{5EB9586D-AD91-4565-9266-3DB465577460}"/>
              </a:ext>
            </a:extLst>
          </p:cNvPr>
          <p:cNvSpPr>
            <a:spLocks xmlns:a="http://schemas.openxmlformats.org/drawingml/2006/main" noGrp="1"/>
          </p:cNvSpPr>
          <p:nvPr/>
        </p:nvSpPr>
        <p:spPr>
          <a:xfrm xmlns:a="http://schemas.openxmlformats.org/drawingml/2006/main">
            <a:off x="3162300" y="742950"/>
            <a:ext cx="857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a:solidFill>
                  <a:srgbClr val="18233A"/>
                </a:solidFill>
                <a:latin typeface="Aptos Display"/>
                <a:ea typeface="Aptos Display"/>
                <a:cs typeface="Aptos Display"/>
              </a:defRPr>
            </a:pPr>
            <a:r>
              <a:rPr sz="3225" b="1">
                <a:solidFill>
                  <a:srgbClr val="18233A"/>
                </a:solidFill>
                <a:latin typeface="Aptos Display"/>
                <a:ea typeface="Aptos Display"/>
                <a:cs typeface="Aptos Display"/>
              </a:rPr>
              <a:t>Three ideas and a first sketch</a:t>
            </a:r>
          </a:p>
        </p:txBody>
      </p:sp>
      <p:sp>
        <p:nvSpPr>
          <p:cNvPr id="6" name="">
            <a:extLst xmlns:a="http://schemas.openxmlformats.org/drawingml/2006/main">
              <a:ext uri="{FF2B5EF4-FFF2-40B4-BE49-F238E27FC236}">
                <a16:creationId xmlns:a16="http://schemas.microsoft.com/office/drawing/2014/main" id="{A6E95C99-0AAC-4D24-A532-868334A82B8F}"/>
              </a:ext>
            </a:extLst>
          </p:cNvPr>
          <p:cNvSpPr>
            <a:spLocks xmlns:a="http://schemas.openxmlformats.org/drawingml/2006/main" noGrp="1"/>
          </p:cNvSpPr>
          <p:nvPr/>
        </p:nvSpPr>
        <p:spPr>
          <a:xfrm xmlns:a="http://schemas.openxmlformats.org/drawingml/2006/main">
            <a:off x="457200" y="1619250"/>
            <a:ext cx="7391400" cy="4133850"/>
          </a:xfrm>
          <a:prstGeom xmlns:a="http://schemas.openxmlformats.org/drawingml/2006/main" prst="roundRect">
            <a:avLst>
              <a:gd name="adj" fmla="val 4147"/>
            </a:avLst>
          </a:prstGeom>
          <a:solidFill xmlns:a="http://schemas.openxmlformats.org/drawingml/2006/main">
            <a:srgbClr val="FFFFFF"/>
          </a:solidFill>
          <a:ln xmlns:a="http://schemas.openxmlformats.org/drawingml/2006/main" w="9525">
            <a:solidFill>
              <a:srgbClr val="DFE3EC"/>
            </a:solidFill>
            <a:prstDash val="solid"/>
          </a:ln>
        </p:spPr>
      </p:sp>
      <p:sp>
        <p:nvSpPr>
          <p:cNvPr id="7" name="">
            <a:extLst xmlns:a="http://schemas.openxmlformats.org/drawingml/2006/main">
              <a:ext uri="{FF2B5EF4-FFF2-40B4-BE49-F238E27FC236}">
                <a16:creationId xmlns:a16="http://schemas.microsoft.com/office/drawing/2014/main" id="{2CDF3D15-95DC-420B-B49F-4570FF6CB441}"/>
              </a:ext>
            </a:extLst>
          </p:cNvPr>
          <p:cNvSpPr>
            <a:spLocks xmlns:a="http://schemas.openxmlformats.org/drawingml/2006/main" noGrp="1"/>
          </p:cNvSpPr>
          <p:nvPr/>
        </p:nvSpPr>
        <p:spPr>
          <a:xfrm xmlns:a="http://schemas.openxmlformats.org/drawingml/2006/main">
            <a:off x="723900" y="1885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DO THIS NOW</a:t>
            </a:r>
          </a:p>
        </p:txBody>
      </p:sp>
      <p:sp>
        <p:nvSpPr>
          <p:cNvPr id="8" name="">
            <a:extLst xmlns:a="http://schemas.openxmlformats.org/drawingml/2006/main">
              <a:ext uri="{FF2B5EF4-FFF2-40B4-BE49-F238E27FC236}">
                <a16:creationId xmlns:a16="http://schemas.microsoft.com/office/drawing/2014/main" id="{3B675FAD-FD6A-4C93-8C91-ED4381F907E0}"/>
              </a:ext>
            </a:extLst>
          </p:cNvPr>
          <p:cNvSpPr>
            <a:spLocks xmlns:a="http://schemas.openxmlformats.org/drawingml/2006/main" noGrp="1"/>
          </p:cNvSpPr>
          <p:nvPr/>
        </p:nvSpPr>
        <p:spPr>
          <a:xfrm xmlns:a="http://schemas.openxmlformats.org/drawingml/2006/main">
            <a:off x="723900" y="2305050"/>
            <a:ext cx="6858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Name a future user, community, or need.</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Sketch three ideas with different purposes or interactions.</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Choose one using today’s practice evidence.</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Wearables: your own shirt-and-hat proposal.</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Robotics: one shared proposal with both partners’ roles.</a:t>
            </a:r>
          </a:p>
        </p:txBody>
      </p:sp>
      <p:sp>
        <p:nvSpPr>
          <p:cNvPr id="9" name="">
            <a:extLst xmlns:a="http://schemas.openxmlformats.org/drawingml/2006/main">
              <a:ext uri="{FF2B5EF4-FFF2-40B4-BE49-F238E27FC236}">
                <a16:creationId xmlns:a16="http://schemas.microsoft.com/office/drawing/2014/main" id="{705F2D9E-7541-4D86-9DF9-55BA3BB9ACEB}"/>
              </a:ext>
            </a:extLst>
          </p:cNvPr>
          <p:cNvSpPr>
            <a:spLocks xmlns:a="http://schemas.openxmlformats.org/drawingml/2006/main" noGrp="1"/>
          </p:cNvSpPr>
          <p:nvPr/>
        </p:nvSpPr>
        <p:spPr>
          <a:xfrm xmlns:a="http://schemas.openxmlformats.org/drawingml/2006/main">
            <a:off x="8115300" y="1619250"/>
            <a:ext cx="3619500" cy="4133850"/>
          </a:xfrm>
          <a:prstGeom xmlns:a="http://schemas.openxmlformats.org/drawingml/2006/main" prst="roundRect">
            <a:avLst>
              <a:gd name="adj" fmla="val 4737"/>
            </a:avLst>
          </a:prstGeom>
          <a:solidFill xmlns:a="http://schemas.openxmlformats.org/drawingml/2006/main">
            <a:srgbClr val="EFEA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DACF08C-7233-47C3-82A5-10AAD724B847}"/>
              </a:ext>
            </a:extLst>
          </p:cNvPr>
          <p:cNvSpPr>
            <a:spLocks xmlns:a="http://schemas.openxmlformats.org/drawingml/2006/main" noGrp="1"/>
          </p:cNvSpPr>
          <p:nvPr/>
        </p:nvSpPr>
        <p:spPr>
          <a:xfrm xmlns:a="http://schemas.openxmlformats.org/drawingml/2006/main">
            <a:off x="8382000" y="1885950"/>
            <a:ext cx="308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FINISH LINE</a:t>
            </a:r>
          </a:p>
        </p:txBody>
      </p:sp>
      <p:sp>
        <p:nvSpPr>
          <p:cNvPr id="11" name="">
            <a:extLst xmlns:a="http://schemas.openxmlformats.org/drawingml/2006/main">
              <a:ext uri="{FF2B5EF4-FFF2-40B4-BE49-F238E27FC236}">
                <a16:creationId xmlns:a16="http://schemas.microsoft.com/office/drawing/2014/main" id="{8AF57171-637C-4FBC-9C80-5B7148311E72}"/>
              </a:ext>
            </a:extLst>
          </p:cNvPr>
          <p:cNvSpPr>
            <a:spLocks xmlns:a="http://schemas.openxmlformats.org/drawingml/2006/main" noGrp="1"/>
          </p:cNvSpPr>
          <p:nvPr/>
        </p:nvSpPr>
        <p:spPr>
          <a:xfrm xmlns:a="http://schemas.openxmlformats.org/drawingml/2006/main">
            <a:off x="8382000" y="2343150"/>
            <a:ext cx="3086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8233A"/>
                </a:solidFill>
                <a:latin typeface="Aptos Display"/>
                <a:ea typeface="Aptos Display"/>
                <a:cs typeface="Aptos Display"/>
              </a:defRPr>
            </a:pPr>
            <a:r>
              <a:rPr sz="2250" b="1">
                <a:solidFill>
                  <a:srgbClr val="18233A"/>
                </a:solidFill>
                <a:latin typeface="Aptos Display"/>
                <a:ea typeface="Aptos Display"/>
                <a:cs typeface="Aptos Display"/>
              </a:rPr>
              <a:t>Three distinct ideas and a reason for your choice.</a:t>
            </a:r>
          </a:p>
        </p:txBody>
      </p:sp>
      <p:sp>
        <p:nvSpPr>
          <p:cNvPr id="12" name="">
            <a:extLst xmlns:a="http://schemas.openxmlformats.org/drawingml/2006/main">
              <a:ext uri="{FF2B5EF4-FFF2-40B4-BE49-F238E27FC236}">
                <a16:creationId xmlns:a16="http://schemas.microsoft.com/office/drawing/2014/main" id="{4ADBC5E2-F63D-429A-B582-5907F0435F05}"/>
              </a:ext>
            </a:extLst>
          </p:cNvPr>
          <p:cNvSpPr>
            <a:spLocks xmlns:a="http://schemas.openxmlformats.org/drawingml/2006/main" noGrp="1"/>
          </p:cNvSpPr>
          <p:nvPr/>
        </p:nvSpPr>
        <p:spPr>
          <a:xfrm xmlns:a="http://schemas.openxmlformats.org/drawingml/2006/main">
            <a:off x="8382000" y="4419600"/>
            <a:ext cx="514350" cy="5715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6E2674-01BC-4D81-8C33-2DD9CF016C57}"/>
              </a:ext>
            </a:extLst>
          </p:cNvPr>
          <p:cNvSpPr>
            <a:spLocks xmlns:a="http://schemas.openxmlformats.org/drawingml/2006/main" noGrp="1"/>
          </p:cNvSpPr>
          <p:nvPr/>
        </p:nvSpPr>
        <p:spPr>
          <a:xfrm xmlns:a="http://schemas.openxmlformats.org/drawingml/2006/main">
            <a:off x="8382000" y="4629150"/>
            <a:ext cx="3086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9657A"/>
                </a:solidFill>
                <a:latin typeface="Aptos"/>
                <a:ea typeface="Aptos"/>
                <a:cs typeface="Aptos"/>
              </a:defRPr>
            </a:pPr>
            <a:r>
              <a:rPr sz="1500" b="0">
                <a:solidFill>
                  <a:srgbClr val="59657A"/>
                </a:solidFill>
                <a:latin typeface="Aptos"/>
                <a:ea typeface="Aptos"/>
                <a:cs typeface="Aptos"/>
              </a:rPr>
              <a:t>Lunch 12:42-1:12. Return by 1:16. Power off before leaving.</a:t>
            </a:r>
          </a:p>
        </p:txBody>
      </p:sp>
      <p:sp>
        <p:nvSpPr>
          <p:cNvPr id="14" name="">
            <a:extLst xmlns:a="http://schemas.openxmlformats.org/drawingml/2006/main">
              <a:ext uri="{FF2B5EF4-FFF2-40B4-BE49-F238E27FC236}">
                <a16:creationId xmlns:a16="http://schemas.microsoft.com/office/drawing/2014/main" id="{854368D9-3A7C-46A8-AAD7-F55228F250B4}"/>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46BADC4-F961-4805-99FE-0C6516E81D05}"/>
              </a:ext>
            </a:extLst>
          </p:cNvPr>
          <p:cNvSpPr>
            <a:spLocks xmlns:a="http://schemas.openxmlformats.org/drawingml/2006/main" noGrp="1"/>
          </p:cNvSpPr>
          <p:nvPr/>
        </p:nvSpPr>
        <p:spPr>
          <a:xfrm xmlns:a="http://schemas.openxmlformats.org/drawingml/2006/main">
            <a:off x="457200" y="6515100"/>
            <a:ext cx="84582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07948D1-0C1E-48EF-B80C-605C4220A143}"/>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17" name="">
            <a:extLst xmlns:a="http://schemas.openxmlformats.org/drawingml/2006/main">
              <a:ext uri="{FF2B5EF4-FFF2-40B4-BE49-F238E27FC236}">
                <a16:creationId xmlns:a16="http://schemas.microsoft.com/office/drawing/2014/main" id="{D39886D2-CB8B-451B-9A07-1E0712334735}"/>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401985111"/>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A693FB-6F00-4E93-870A-00D3A75C123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9CF756-DD4C-4D27-8A1F-71C7CBD12F4A}"/>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0E27389F-6F46-437C-A616-BB5A6EAADFD5}"/>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7/8</a:t>
            </a:r>
          </a:p>
        </p:txBody>
      </p:sp>
      <p:sp>
        <p:nvSpPr>
          <p:cNvPr id="4" name="">
            <a:extLst xmlns:a="http://schemas.openxmlformats.org/drawingml/2006/main">
              <a:ext uri="{FF2B5EF4-FFF2-40B4-BE49-F238E27FC236}">
                <a16:creationId xmlns:a16="http://schemas.microsoft.com/office/drawing/2014/main" id="{E73D1325-9CC2-49FB-874B-374E7F5899C5}"/>
              </a:ext>
            </a:extLst>
          </p:cNvPr>
          <p:cNvSpPr>
            <a:spLocks xmlns:a="http://schemas.openxmlformats.org/drawingml/2006/main" noGrp="1"/>
          </p:cNvSpPr>
          <p:nvPr/>
        </p:nvSpPr>
        <p:spPr>
          <a:xfrm xmlns:a="http://schemas.openxmlformats.org/drawingml/2006/main">
            <a:off x="457200" y="819150"/>
            <a:ext cx="2381250" cy="495300"/>
          </a:xfrm>
          <a:prstGeom xmlns:a="http://schemas.openxmlformats.org/drawingml/2006/main" prst="roundRect">
            <a:avLst>
              <a:gd name="adj" fmla="val 34615"/>
            </a:avLst>
          </a:prstGeom>
          <a:solidFill xmlns:a="http://schemas.openxmlformats.org/drawingml/2006/main">
            <a:srgbClr val="5F3DC4"/>
          </a:solidFill>
          <a:ln xmlns:a="http://schemas.openxmlformats.org/drawingml/2006/main" w="0">
            <a:noFill/>
            <a:prstDash val="solid"/>
          </a:ln>
        </p:spPr>
        <p:txBody>
          <a:bodyPr xmlns:a="http://schemas.openxmlformats.org/drawingml/2006/main" lIns="114300" tIns="47625" rIns="114300" bIns="47625" anchor="ctr">
            <a:normAutofit fontScale="100000"/>
          </a:bodyPr>
          <a:lstStyle xmlns:a="http://schemas.openxmlformats.org/drawingml/2006/main"/>
          <a:p xmlns:a="http://schemas.openxmlformats.org/drawingml/2006/main">
            <a:pPr algn="ctr">
              <a:buNone/>
              <a:defRPr sz="1950" b="1">
                <a:solidFill>
                  <a:srgbClr val="FFFFFF"/>
                </a:solidFill>
                <a:latin typeface="Aptos"/>
                <a:ea typeface="Aptos"/>
                <a:cs typeface="Aptos"/>
              </a:defRPr>
            </a:pPr>
            <a:r>
              <a:rPr sz="1950" b="1">
                <a:solidFill>
                  <a:srgbClr val="FFFFFF"/>
                </a:solidFill>
                <a:latin typeface="Aptos"/>
                <a:ea typeface="Aptos"/>
                <a:cs typeface="Aptos"/>
              </a:rPr>
              <a:t>1:16-2:21</a:t>
            </a:r>
          </a:p>
        </p:txBody>
      </p:sp>
      <p:sp>
        <p:nvSpPr>
          <p:cNvPr id="5" name="">
            <a:extLst xmlns:a="http://schemas.openxmlformats.org/drawingml/2006/main">
              <a:ext uri="{FF2B5EF4-FFF2-40B4-BE49-F238E27FC236}">
                <a16:creationId xmlns:a16="http://schemas.microsoft.com/office/drawing/2014/main" id="{89054ABC-F218-4648-88C0-21A6837EF312}"/>
              </a:ext>
            </a:extLst>
          </p:cNvPr>
          <p:cNvSpPr>
            <a:spLocks xmlns:a="http://schemas.openxmlformats.org/drawingml/2006/main" noGrp="1"/>
          </p:cNvSpPr>
          <p:nvPr/>
        </p:nvSpPr>
        <p:spPr>
          <a:xfrm xmlns:a="http://schemas.openxmlformats.org/drawingml/2006/main">
            <a:off x="3162300" y="742950"/>
            <a:ext cx="857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a:solidFill>
                  <a:srgbClr val="18233A"/>
                </a:solidFill>
                <a:latin typeface="Aptos Display"/>
                <a:ea typeface="Aptos Display"/>
                <a:cs typeface="Aptos Display"/>
              </a:defRPr>
            </a:pPr>
            <a:r>
              <a:rPr sz="3225" b="1">
                <a:solidFill>
                  <a:srgbClr val="18233A"/>
                </a:solidFill>
                <a:latin typeface="Aptos Display"/>
                <a:ea typeface="Aptos Display"/>
                <a:cs typeface="Aptos Display"/>
              </a:rPr>
              <a:t>Proposal studio and mentor review</a:t>
            </a:r>
          </a:p>
        </p:txBody>
      </p:sp>
      <p:sp>
        <p:nvSpPr>
          <p:cNvPr id="6" name="">
            <a:extLst xmlns:a="http://schemas.openxmlformats.org/drawingml/2006/main">
              <a:ext uri="{FF2B5EF4-FFF2-40B4-BE49-F238E27FC236}">
                <a16:creationId xmlns:a16="http://schemas.microsoft.com/office/drawing/2014/main" id="{3185D0E5-CF43-4D24-8B30-3FAC2B9951F7}"/>
              </a:ext>
            </a:extLst>
          </p:cNvPr>
          <p:cNvSpPr>
            <a:spLocks xmlns:a="http://schemas.openxmlformats.org/drawingml/2006/main" noGrp="1"/>
          </p:cNvSpPr>
          <p:nvPr/>
        </p:nvSpPr>
        <p:spPr>
          <a:xfrm xmlns:a="http://schemas.openxmlformats.org/drawingml/2006/main">
            <a:off x="457200" y="1619250"/>
            <a:ext cx="7391400" cy="4133850"/>
          </a:xfrm>
          <a:prstGeom xmlns:a="http://schemas.openxmlformats.org/drawingml/2006/main" prst="roundRect">
            <a:avLst>
              <a:gd name="adj" fmla="val 4147"/>
            </a:avLst>
          </a:prstGeom>
          <a:solidFill xmlns:a="http://schemas.openxmlformats.org/drawingml/2006/main">
            <a:srgbClr val="FFFFFF"/>
          </a:solidFill>
          <a:ln xmlns:a="http://schemas.openxmlformats.org/drawingml/2006/main" w="9525">
            <a:solidFill>
              <a:srgbClr val="DFE3EC"/>
            </a:solidFill>
            <a:prstDash val="solid"/>
          </a:ln>
        </p:spPr>
      </p:sp>
      <p:sp>
        <p:nvSpPr>
          <p:cNvPr id="7" name="">
            <a:extLst xmlns:a="http://schemas.openxmlformats.org/drawingml/2006/main">
              <a:ext uri="{FF2B5EF4-FFF2-40B4-BE49-F238E27FC236}">
                <a16:creationId xmlns:a16="http://schemas.microsoft.com/office/drawing/2014/main" id="{C61FC0E0-4862-46B2-AA6E-DE8005D860F2}"/>
              </a:ext>
            </a:extLst>
          </p:cNvPr>
          <p:cNvSpPr>
            <a:spLocks xmlns:a="http://schemas.openxmlformats.org/drawingml/2006/main" noGrp="1"/>
          </p:cNvSpPr>
          <p:nvPr/>
        </p:nvSpPr>
        <p:spPr>
          <a:xfrm xmlns:a="http://schemas.openxmlformats.org/drawingml/2006/main">
            <a:off x="723900" y="1885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DO THIS NOW</a:t>
            </a:r>
          </a:p>
        </p:txBody>
      </p:sp>
      <p:sp>
        <p:nvSpPr>
          <p:cNvPr id="8" name="">
            <a:extLst xmlns:a="http://schemas.openxmlformats.org/drawingml/2006/main">
              <a:ext uri="{FF2B5EF4-FFF2-40B4-BE49-F238E27FC236}">
                <a16:creationId xmlns:a16="http://schemas.microsoft.com/office/drawing/2014/main" id="{4E2418D0-2039-40E3-B7F4-487769262CB0}"/>
              </a:ext>
            </a:extLst>
          </p:cNvPr>
          <p:cNvSpPr>
            <a:spLocks xmlns:a="http://schemas.openxmlformats.org/drawingml/2006/main" noGrp="1"/>
          </p:cNvSpPr>
          <p:nvPr/>
        </p:nvSpPr>
        <p:spPr>
          <a:xfrm xmlns:a="http://schemas.openxmlformats.org/drawingml/2006/main">
            <a:off x="723900" y="2305050"/>
            <a:ext cx="6858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Label your sketches and system behavior.</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Mark materials available, needed, or unconfirmed.</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Explain safety, comfort or stability, and repair access.</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Name the first test and what success would look like.</a:t>
            </a:r>
          </a:p>
          <a:p xmlns:a="http://schemas.openxmlformats.org/drawingml/2006/main">
            <a:pPr marL="203200" indent="-101600">
              <a:spcAft>
                <a:spcPts val="900"/>
              </a:spcAft>
              <a:buChar char="•"/>
              <a:defRPr sz="1950">
                <a:solidFill>
                  <a:srgbClr val="18233A"/>
                </a:solidFill>
                <a:latin typeface="Aptos"/>
                <a:ea typeface="Aptos"/>
                <a:cs typeface="Aptos"/>
              </a:defRPr>
            </a:pPr>
            <a:r>
              <a:rPr sz="1950">
                <a:solidFill>
                  <a:srgbClr val="18233A"/>
                </a:solidFill>
                <a:latin typeface="Aptos"/>
                <a:ea typeface="Aptos"/>
                <a:cs typeface="Aptos"/>
              </a:rPr>
              <a:t>Record your mentor’s decision and the next test owner.</a:t>
            </a:r>
          </a:p>
        </p:txBody>
      </p:sp>
      <p:sp>
        <p:nvSpPr>
          <p:cNvPr id="9" name="">
            <a:extLst xmlns:a="http://schemas.openxmlformats.org/drawingml/2006/main">
              <a:ext uri="{FF2B5EF4-FFF2-40B4-BE49-F238E27FC236}">
                <a16:creationId xmlns:a16="http://schemas.microsoft.com/office/drawing/2014/main" id="{162E2231-9BB1-4F67-A589-1A60CE273FB7}"/>
              </a:ext>
            </a:extLst>
          </p:cNvPr>
          <p:cNvSpPr>
            <a:spLocks xmlns:a="http://schemas.openxmlformats.org/drawingml/2006/main" noGrp="1"/>
          </p:cNvSpPr>
          <p:nvPr/>
        </p:nvSpPr>
        <p:spPr>
          <a:xfrm xmlns:a="http://schemas.openxmlformats.org/drawingml/2006/main">
            <a:off x="8115300" y="1619250"/>
            <a:ext cx="3619500" cy="4133850"/>
          </a:xfrm>
          <a:prstGeom xmlns:a="http://schemas.openxmlformats.org/drawingml/2006/main" prst="roundRect">
            <a:avLst>
              <a:gd name="adj" fmla="val 4737"/>
            </a:avLst>
          </a:prstGeom>
          <a:solidFill xmlns:a="http://schemas.openxmlformats.org/drawingml/2006/main">
            <a:srgbClr val="EFEA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7AA70B-1D39-4C20-8DDA-49E6D19B6CA6}"/>
              </a:ext>
            </a:extLst>
          </p:cNvPr>
          <p:cNvSpPr>
            <a:spLocks xmlns:a="http://schemas.openxmlformats.org/drawingml/2006/main" noGrp="1"/>
          </p:cNvSpPr>
          <p:nvPr/>
        </p:nvSpPr>
        <p:spPr>
          <a:xfrm xmlns:a="http://schemas.openxmlformats.org/drawingml/2006/main">
            <a:off x="8382000" y="1885950"/>
            <a:ext cx="308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F3DC4"/>
                </a:solidFill>
                <a:latin typeface="Aptos"/>
                <a:ea typeface="Aptos"/>
                <a:cs typeface="Aptos"/>
              </a:defRPr>
            </a:pPr>
            <a:r>
              <a:rPr sz="1275" b="1">
                <a:solidFill>
                  <a:srgbClr val="5F3DC4"/>
                </a:solidFill>
                <a:latin typeface="Aptos"/>
                <a:ea typeface="Aptos"/>
                <a:cs typeface="Aptos"/>
              </a:rPr>
              <a:t>FINISH LINE</a:t>
            </a:r>
          </a:p>
        </p:txBody>
      </p:sp>
      <p:sp>
        <p:nvSpPr>
          <p:cNvPr id="11" name="">
            <a:extLst xmlns:a="http://schemas.openxmlformats.org/drawingml/2006/main">
              <a:ext uri="{FF2B5EF4-FFF2-40B4-BE49-F238E27FC236}">
                <a16:creationId xmlns:a16="http://schemas.microsoft.com/office/drawing/2014/main" id="{36B7BA19-776A-42C4-9E96-D17AC1DE17FC}"/>
              </a:ext>
            </a:extLst>
          </p:cNvPr>
          <p:cNvSpPr>
            <a:spLocks xmlns:a="http://schemas.openxmlformats.org/drawingml/2006/main" noGrp="1"/>
          </p:cNvSpPr>
          <p:nvPr/>
        </p:nvSpPr>
        <p:spPr>
          <a:xfrm xmlns:a="http://schemas.openxmlformats.org/drawingml/2006/main">
            <a:off x="8382000" y="2343150"/>
            <a:ext cx="3086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8233A"/>
                </a:solidFill>
                <a:latin typeface="Aptos Display"/>
                <a:ea typeface="Aptos Display"/>
                <a:cs typeface="Aptos Display"/>
              </a:defRPr>
            </a:pPr>
            <a:r>
              <a:rPr sz="2250" b="1">
                <a:solidFill>
                  <a:srgbClr val="18233A"/>
                </a:solidFill>
                <a:latin typeface="Aptos Display"/>
                <a:ea typeface="Aptos Display"/>
                <a:cs typeface="Aptos Display"/>
              </a:rPr>
              <a:t>A reviewed proposal with an exact next action.</a:t>
            </a:r>
          </a:p>
        </p:txBody>
      </p:sp>
      <p:sp>
        <p:nvSpPr>
          <p:cNvPr id="12" name="">
            <a:extLst xmlns:a="http://schemas.openxmlformats.org/drawingml/2006/main">
              <a:ext uri="{FF2B5EF4-FFF2-40B4-BE49-F238E27FC236}">
                <a16:creationId xmlns:a16="http://schemas.microsoft.com/office/drawing/2014/main" id="{0949EE92-598B-4827-8BC7-17D38FE7DA75}"/>
              </a:ext>
            </a:extLst>
          </p:cNvPr>
          <p:cNvSpPr>
            <a:spLocks xmlns:a="http://schemas.openxmlformats.org/drawingml/2006/main" noGrp="1"/>
          </p:cNvSpPr>
          <p:nvPr/>
        </p:nvSpPr>
        <p:spPr>
          <a:xfrm xmlns:a="http://schemas.openxmlformats.org/drawingml/2006/main">
            <a:off x="8382000" y="4419600"/>
            <a:ext cx="514350" cy="5715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D92A2B9-0F96-456B-BE9A-1739F1F6EAD3}"/>
              </a:ext>
            </a:extLst>
          </p:cNvPr>
          <p:cNvSpPr>
            <a:spLocks xmlns:a="http://schemas.openxmlformats.org/drawingml/2006/main" noGrp="1"/>
          </p:cNvSpPr>
          <p:nvPr/>
        </p:nvSpPr>
        <p:spPr>
          <a:xfrm xmlns:a="http://schemas.openxmlformats.org/drawingml/2006/main">
            <a:off x="8382000" y="4629150"/>
            <a:ext cx="3086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9657A"/>
                </a:solidFill>
                <a:latin typeface="Aptos"/>
                <a:ea typeface="Aptos"/>
                <a:cs typeface="Aptos"/>
              </a:defRPr>
            </a:pPr>
            <a:r>
              <a:rPr sz="1500" b="0">
                <a:solidFill>
                  <a:srgbClr val="59657A"/>
                </a:solidFill>
                <a:latin typeface="Aptos"/>
                <a:ea typeface="Aptos"/>
                <a:cs typeface="Aptos"/>
              </a:rPr>
              <a:t>Reviews 1:16-2:00. Table pitches and revisions 2:00-2:21.</a:t>
            </a:r>
          </a:p>
        </p:txBody>
      </p:sp>
      <p:sp>
        <p:nvSpPr>
          <p:cNvPr id="14" name="">
            <a:extLst xmlns:a="http://schemas.openxmlformats.org/drawingml/2006/main">
              <a:ext uri="{FF2B5EF4-FFF2-40B4-BE49-F238E27FC236}">
                <a16:creationId xmlns:a16="http://schemas.microsoft.com/office/drawing/2014/main" id="{2814DD74-3D71-40E0-80CB-CA5E6033E8DD}"/>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12E557-E211-49FB-BD07-32AC915A13C1}"/>
              </a:ext>
            </a:extLst>
          </p:cNvPr>
          <p:cNvSpPr>
            <a:spLocks xmlns:a="http://schemas.openxmlformats.org/drawingml/2006/main" noGrp="1"/>
          </p:cNvSpPr>
          <p:nvPr/>
        </p:nvSpPr>
        <p:spPr>
          <a:xfrm xmlns:a="http://schemas.openxmlformats.org/drawingml/2006/main">
            <a:off x="457200" y="6515100"/>
            <a:ext cx="98679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9458BE0-62DF-4F37-B25C-CF5DCD926D81}"/>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17" name="">
            <a:extLst xmlns:a="http://schemas.openxmlformats.org/drawingml/2006/main">
              <a:ext uri="{FF2B5EF4-FFF2-40B4-BE49-F238E27FC236}">
                <a16:creationId xmlns:a16="http://schemas.microsoft.com/office/drawing/2014/main" id="{5EE8E176-EB18-4F12-A27B-7FED4F27CDCA}"/>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6159623"/>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D0B109B-F5D7-4F77-ADE3-CBECC1B2B93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EE5719-916B-4C35-8B5E-795D6412771E}"/>
              </a:ext>
            </a:extLst>
          </p:cNvPr>
          <p:cNvSpPr>
            <a:spLocks xmlns:a="http://schemas.openxmlformats.org/drawingml/2006/main" noGrp="1"/>
          </p:cNvSpPr>
          <p:nvPr/>
        </p:nvSpPr>
        <p:spPr>
          <a:xfrm xmlns:a="http://schemas.openxmlformats.org/drawingml/2006/main">
            <a:off x="45720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F3DC4"/>
                </a:solidFill>
                <a:latin typeface="Aptos Display"/>
                <a:ea typeface="Aptos Display"/>
                <a:cs typeface="Aptos Display"/>
              </a:defRPr>
            </a:pPr>
            <a:r>
              <a:rPr sz="1200" b="1">
                <a:solidFill>
                  <a:srgbClr val="5F3DC4"/>
                </a:solidFill>
                <a:latin typeface="Aptos Display"/>
                <a:ea typeface="Aptos Display"/>
                <a:cs typeface="Aptos Display"/>
              </a:rPr>
              <a:t>STAUFFER FEMINEERS</a:t>
            </a:r>
          </a:p>
        </p:txBody>
      </p:sp>
      <p:sp>
        <p:nvSpPr>
          <p:cNvPr id="3" name="">
            <a:extLst xmlns:a="http://schemas.openxmlformats.org/drawingml/2006/main">
              <a:ext uri="{FF2B5EF4-FFF2-40B4-BE49-F238E27FC236}">
                <a16:creationId xmlns:a16="http://schemas.microsoft.com/office/drawing/2014/main" id="{04F209FA-B589-41FF-BE21-EFCEF0379E8F}"/>
              </a:ext>
            </a:extLst>
          </p:cNvPr>
          <p:cNvSpPr>
            <a:spLocks xmlns:a="http://schemas.openxmlformats.org/drawingml/2006/main" noGrp="1"/>
          </p:cNvSpPr>
          <p:nvPr/>
        </p:nvSpPr>
        <p:spPr>
          <a:xfrm xmlns:a="http://schemas.openxmlformats.org/drawingml/2006/main">
            <a:off x="8915400" y="2667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1">
                <a:solidFill>
                  <a:srgbClr val="59657A"/>
                </a:solidFill>
                <a:latin typeface="Aptos"/>
                <a:ea typeface="Aptos"/>
                <a:cs typeface="Aptos"/>
              </a:defRPr>
            </a:pPr>
            <a:r>
              <a:rPr sz="1200" b="1">
                <a:solidFill>
                  <a:srgbClr val="59657A"/>
                </a:solidFill>
                <a:latin typeface="Aptos"/>
                <a:ea typeface="Aptos"/>
                <a:cs typeface="Aptos"/>
              </a:rPr>
              <a:t>SEP 24 / 8/8</a:t>
            </a:r>
          </a:p>
        </p:txBody>
      </p:sp>
      <p:sp>
        <p:nvSpPr>
          <p:cNvPr id="4" name="">
            <a:extLst xmlns:a="http://schemas.openxmlformats.org/drawingml/2006/main">
              <a:ext uri="{FF2B5EF4-FFF2-40B4-BE49-F238E27FC236}">
                <a16:creationId xmlns:a16="http://schemas.microsoft.com/office/drawing/2014/main" id="{D959AB72-7059-4F1B-8920-5AA90D782335}"/>
              </a:ext>
            </a:extLst>
          </p:cNvPr>
          <p:cNvSpPr>
            <a:spLocks xmlns:a="http://schemas.openxmlformats.org/drawingml/2006/main" noGrp="1"/>
          </p:cNvSpPr>
          <p:nvPr/>
        </p:nvSpPr>
        <p:spPr>
          <a:xfrm xmlns:a="http://schemas.openxmlformats.org/drawingml/2006/main">
            <a:off x="457200" y="819150"/>
            <a:ext cx="2381250" cy="495300"/>
          </a:xfrm>
          <a:prstGeom xmlns:a="http://schemas.openxmlformats.org/drawingml/2006/main" prst="roundRect">
            <a:avLst>
              <a:gd name="adj" fmla="val 34615"/>
            </a:avLst>
          </a:prstGeom>
          <a:solidFill xmlns:a="http://schemas.openxmlformats.org/drawingml/2006/main">
            <a:srgbClr val="5F3DC4"/>
          </a:solidFill>
          <a:ln xmlns:a="http://schemas.openxmlformats.org/drawingml/2006/main" w="0">
            <a:noFill/>
            <a:prstDash val="solid"/>
          </a:ln>
        </p:spPr>
        <p:txBody>
          <a:bodyPr xmlns:a="http://schemas.openxmlformats.org/drawingml/2006/main" lIns="114300" tIns="47625" rIns="114300" bIns="47625" anchor="ctr">
            <a:normAutofit fontScale="100000"/>
          </a:bodyPr>
          <a:lstStyle xmlns:a="http://schemas.openxmlformats.org/drawingml/2006/main"/>
          <a:p xmlns:a="http://schemas.openxmlformats.org/drawingml/2006/main">
            <a:pPr algn="ctr">
              <a:buNone/>
              <a:defRPr sz="1950" b="1">
                <a:solidFill>
                  <a:srgbClr val="FFFFFF"/>
                </a:solidFill>
                <a:latin typeface="Aptos"/>
                <a:ea typeface="Aptos"/>
                <a:cs typeface="Aptos"/>
              </a:defRPr>
            </a:pPr>
            <a:r>
              <a:rPr sz="1950" b="1">
                <a:solidFill>
                  <a:srgbClr val="FFFFFF"/>
                </a:solidFill>
                <a:latin typeface="Aptos"/>
                <a:ea typeface="Aptos"/>
                <a:cs typeface="Aptos"/>
              </a:rPr>
              <a:t>2:21-2:41</a:t>
            </a:r>
          </a:p>
        </p:txBody>
      </p:sp>
      <p:sp>
        <p:nvSpPr>
          <p:cNvPr id="5" name="">
            <a:extLst xmlns:a="http://schemas.openxmlformats.org/drawingml/2006/main">
              <a:ext uri="{FF2B5EF4-FFF2-40B4-BE49-F238E27FC236}">
                <a16:creationId xmlns:a16="http://schemas.microsoft.com/office/drawing/2014/main" id="{0B04CD8D-8E1E-4758-BC3C-2282D169647D}"/>
              </a:ext>
            </a:extLst>
          </p:cNvPr>
          <p:cNvSpPr>
            <a:spLocks xmlns:a="http://schemas.openxmlformats.org/drawingml/2006/main" noGrp="1"/>
          </p:cNvSpPr>
          <p:nvPr/>
        </p:nvSpPr>
        <p:spPr>
          <a:xfrm xmlns:a="http://schemas.openxmlformats.org/drawingml/2006/main">
            <a:off x="3162300" y="742950"/>
            <a:ext cx="857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a:solidFill>
                  <a:srgbClr val="18233A"/>
                </a:solidFill>
                <a:latin typeface="Aptos Display"/>
                <a:ea typeface="Aptos Display"/>
                <a:cs typeface="Aptos Display"/>
              </a:defRPr>
            </a:pPr>
            <a:r>
              <a:rPr sz="3225" b="1">
                <a:solidFill>
                  <a:srgbClr val="18233A"/>
                </a:solidFill>
                <a:latin typeface="Aptos Display"/>
                <a:ea typeface="Aptos Display"/>
                <a:cs typeface="Aptos Display"/>
              </a:rPr>
              <a:t>Final status and safe cleanup</a:t>
            </a:r>
          </a:p>
        </p:txBody>
      </p:sp>
      <p:sp>
        <p:nvSpPr>
          <p:cNvPr id="6" name="">
            <a:extLst xmlns:a="http://schemas.openxmlformats.org/drawingml/2006/main">
              <a:ext uri="{FF2B5EF4-FFF2-40B4-BE49-F238E27FC236}">
                <a16:creationId xmlns:a16="http://schemas.microsoft.com/office/drawing/2014/main" id="{99311F1F-04EF-4578-9D09-304B6CC9FA1B}"/>
              </a:ext>
            </a:extLst>
          </p:cNvPr>
          <p:cNvSpPr>
            <a:spLocks xmlns:a="http://schemas.openxmlformats.org/drawingml/2006/main" noGrp="1"/>
          </p:cNvSpPr>
          <p:nvPr/>
        </p:nvSpPr>
        <p:spPr>
          <a:xfrm xmlns:a="http://schemas.openxmlformats.org/drawingml/2006/main">
            <a:off x="457200" y="1847850"/>
            <a:ext cx="2690813" cy="3467100"/>
          </a:xfrm>
          <a:prstGeom xmlns:a="http://schemas.openxmlformats.org/drawingml/2006/main" prst="roundRect">
            <a:avLst>
              <a:gd name="adj" fmla="val 6372"/>
            </a:avLst>
          </a:prstGeom>
          <a:solidFill xmlns:a="http://schemas.openxmlformats.org/drawingml/2006/main">
            <a:srgbClr val="E7F4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9D31FA-651A-48C9-BC76-BD1B73F7BEF5}"/>
              </a:ext>
            </a:extLst>
          </p:cNvPr>
          <p:cNvSpPr>
            <a:spLocks xmlns:a="http://schemas.openxmlformats.org/drawingml/2006/main" noGrp="1"/>
          </p:cNvSpPr>
          <p:nvPr/>
        </p:nvSpPr>
        <p:spPr>
          <a:xfrm xmlns:a="http://schemas.openxmlformats.org/drawingml/2006/main">
            <a:off x="457200" y="1847850"/>
            <a:ext cx="2690813" cy="133350"/>
          </a:xfrm>
          <a:prstGeom xmlns:a="http://schemas.openxmlformats.org/drawingml/2006/main" prst="rect">
            <a:avLst/>
          </a:prstGeom>
          <a:solidFill xmlns:a="http://schemas.openxmlformats.org/drawingml/2006/main">
            <a:srgbClr val="2E8B5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8102047-EE40-405B-ADBE-F63719CC139C}"/>
              </a:ext>
            </a:extLst>
          </p:cNvPr>
          <p:cNvSpPr>
            <a:spLocks xmlns:a="http://schemas.openxmlformats.org/drawingml/2006/main" noGrp="1"/>
          </p:cNvSpPr>
          <p:nvPr/>
        </p:nvSpPr>
        <p:spPr>
          <a:xfrm xmlns:a="http://schemas.openxmlformats.org/drawingml/2006/main">
            <a:off x="666750" y="2209800"/>
            <a:ext cx="2271713"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1">
                <a:solidFill>
                  <a:srgbClr val="2E8B57"/>
                </a:solidFill>
                <a:latin typeface="Aptos Display"/>
                <a:ea typeface="Aptos Display"/>
                <a:cs typeface="Aptos Display"/>
              </a:defRPr>
            </a:pPr>
            <a:r>
              <a:rPr sz="1950" b="1">
                <a:solidFill>
                  <a:srgbClr val="2E8B57"/>
                </a:solidFill>
                <a:latin typeface="Aptos Display"/>
                <a:ea typeface="Aptos Display"/>
                <a:cs typeface="Aptos Display"/>
              </a:rPr>
              <a:t>APPROVED</a:t>
            </a:r>
          </a:p>
        </p:txBody>
      </p:sp>
      <p:sp>
        <p:nvSpPr>
          <p:cNvPr id="9" name="">
            <a:extLst xmlns:a="http://schemas.openxmlformats.org/drawingml/2006/main">
              <a:ext uri="{FF2B5EF4-FFF2-40B4-BE49-F238E27FC236}">
                <a16:creationId xmlns:a16="http://schemas.microsoft.com/office/drawing/2014/main" id="{3EF59EF9-3C06-4100-A186-80992D391AE9}"/>
              </a:ext>
            </a:extLst>
          </p:cNvPr>
          <p:cNvSpPr>
            <a:spLocks xmlns:a="http://schemas.openxmlformats.org/drawingml/2006/main" noGrp="1"/>
          </p:cNvSpPr>
          <p:nvPr/>
        </p:nvSpPr>
        <p:spPr>
          <a:xfrm xmlns:a="http://schemas.openxmlformats.org/drawingml/2006/main">
            <a:off x="666750" y="3048000"/>
            <a:ext cx="2271713"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0">
                <a:solidFill>
                  <a:srgbClr val="18233A"/>
                </a:solidFill>
                <a:latin typeface="Aptos"/>
                <a:ea typeface="Aptos"/>
                <a:cs typeface="Aptos"/>
              </a:defRPr>
            </a:pPr>
            <a:r>
              <a:rPr sz="1575" b="0">
                <a:solidFill>
                  <a:srgbClr val="18233A"/>
                </a:solidFill>
                <a:latin typeface="Aptos"/>
                <a:ea typeface="Aptos"/>
                <a:cs typeface="Aptos"/>
              </a:rPr>
              <a:t>Ready for the next design step within your mentor’s approved scope.</a:t>
            </a:r>
          </a:p>
        </p:txBody>
      </p:sp>
      <p:sp>
        <p:nvSpPr>
          <p:cNvPr id="10" name="">
            <a:extLst xmlns:a="http://schemas.openxmlformats.org/drawingml/2006/main">
              <a:ext uri="{FF2B5EF4-FFF2-40B4-BE49-F238E27FC236}">
                <a16:creationId xmlns:a16="http://schemas.microsoft.com/office/drawing/2014/main" id="{F1954886-B466-402E-BFE2-8FBE195EACC2}"/>
              </a:ext>
            </a:extLst>
          </p:cNvPr>
          <p:cNvSpPr>
            <a:spLocks xmlns:a="http://schemas.openxmlformats.org/drawingml/2006/main" noGrp="1"/>
          </p:cNvSpPr>
          <p:nvPr/>
        </p:nvSpPr>
        <p:spPr>
          <a:xfrm xmlns:a="http://schemas.openxmlformats.org/drawingml/2006/main">
            <a:off x="3319463" y="1847850"/>
            <a:ext cx="2690813" cy="3467100"/>
          </a:xfrm>
          <a:prstGeom xmlns:a="http://schemas.openxmlformats.org/drawingml/2006/main" prst="roundRect">
            <a:avLst>
              <a:gd name="adj" fmla="val 6372"/>
            </a:avLst>
          </a:prstGeom>
          <a:solidFill xmlns:a="http://schemas.openxmlformats.org/drawingml/2006/main">
            <a:srgbClr val="E7F6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CBC53A4-16E3-4235-93AA-CAFC10FFB428}"/>
              </a:ext>
            </a:extLst>
          </p:cNvPr>
          <p:cNvSpPr>
            <a:spLocks xmlns:a="http://schemas.openxmlformats.org/drawingml/2006/main" noGrp="1"/>
          </p:cNvSpPr>
          <p:nvPr/>
        </p:nvSpPr>
        <p:spPr>
          <a:xfrm xmlns:a="http://schemas.openxmlformats.org/drawingml/2006/main">
            <a:off x="3319463" y="1847850"/>
            <a:ext cx="2690813" cy="133350"/>
          </a:xfrm>
          <a:prstGeom xmlns:a="http://schemas.openxmlformats.org/drawingml/2006/main" prst="rect">
            <a:avLst/>
          </a:prstGeom>
          <a:solidFill xmlns:a="http://schemas.openxmlformats.org/drawingml/2006/main">
            <a:srgbClr val="168B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3302A9-2BC9-4360-8FDB-B8240D002FB3}"/>
              </a:ext>
            </a:extLst>
          </p:cNvPr>
          <p:cNvSpPr>
            <a:spLocks xmlns:a="http://schemas.openxmlformats.org/drawingml/2006/main" noGrp="1"/>
          </p:cNvSpPr>
          <p:nvPr/>
        </p:nvSpPr>
        <p:spPr>
          <a:xfrm xmlns:a="http://schemas.openxmlformats.org/drawingml/2006/main">
            <a:off x="3529013" y="2209800"/>
            <a:ext cx="2271713"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68B88"/>
                </a:solidFill>
                <a:latin typeface="Aptos Display"/>
                <a:ea typeface="Aptos Display"/>
                <a:cs typeface="Aptos Display"/>
              </a:defRPr>
            </a:pPr>
            <a:r>
              <a:rPr sz="1725" b="1">
                <a:solidFill>
                  <a:srgbClr val="168B88"/>
                </a:solidFill>
                <a:latin typeface="Aptos Display"/>
                <a:ea typeface="Aptos Display"/>
                <a:cs typeface="Aptos Display"/>
              </a:rPr>
              <a:t>PROVISIONAL</a:t>
            </a:r>
          </a:p>
        </p:txBody>
      </p:sp>
      <p:sp>
        <p:nvSpPr>
          <p:cNvPr id="13" name="">
            <a:extLst xmlns:a="http://schemas.openxmlformats.org/drawingml/2006/main">
              <a:ext uri="{FF2B5EF4-FFF2-40B4-BE49-F238E27FC236}">
                <a16:creationId xmlns:a16="http://schemas.microsoft.com/office/drawing/2014/main" id="{285690B8-A0F9-4B16-95EC-5CED2368E14B}"/>
              </a:ext>
            </a:extLst>
          </p:cNvPr>
          <p:cNvSpPr>
            <a:spLocks xmlns:a="http://schemas.openxmlformats.org/drawingml/2006/main" noGrp="1"/>
          </p:cNvSpPr>
          <p:nvPr/>
        </p:nvSpPr>
        <p:spPr>
          <a:xfrm xmlns:a="http://schemas.openxmlformats.org/drawingml/2006/main">
            <a:off x="3529013" y="3048000"/>
            <a:ext cx="2271713"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0">
                <a:solidFill>
                  <a:srgbClr val="18233A"/>
                </a:solidFill>
                <a:latin typeface="Aptos"/>
                <a:ea typeface="Aptos"/>
                <a:cs typeface="Aptos"/>
              </a:defRPr>
            </a:pPr>
            <a:r>
              <a:rPr sz="1575" b="0">
                <a:solidFill>
                  <a:srgbClr val="18233A"/>
                </a:solidFill>
                <a:latin typeface="Aptos"/>
                <a:ea typeface="Aptos"/>
                <a:cs typeface="Aptos"/>
              </a:rPr>
              <a:t>Record the missing physical test, its mentor owner, and the next school-time check.</a:t>
            </a:r>
          </a:p>
        </p:txBody>
      </p:sp>
      <p:sp>
        <p:nvSpPr>
          <p:cNvPr id="14" name="">
            <a:extLst xmlns:a="http://schemas.openxmlformats.org/drawingml/2006/main">
              <a:ext uri="{FF2B5EF4-FFF2-40B4-BE49-F238E27FC236}">
                <a16:creationId xmlns:a16="http://schemas.microsoft.com/office/drawing/2014/main" id="{6E458776-0CA0-4A73-ABCF-D23A7A27752C}"/>
              </a:ext>
            </a:extLst>
          </p:cNvPr>
          <p:cNvSpPr>
            <a:spLocks xmlns:a="http://schemas.openxmlformats.org/drawingml/2006/main" noGrp="1"/>
          </p:cNvSpPr>
          <p:nvPr/>
        </p:nvSpPr>
        <p:spPr>
          <a:xfrm xmlns:a="http://schemas.openxmlformats.org/drawingml/2006/main">
            <a:off x="6181725" y="1847850"/>
            <a:ext cx="2690813" cy="3467100"/>
          </a:xfrm>
          <a:prstGeom xmlns:a="http://schemas.openxmlformats.org/drawingml/2006/main" prst="roundRect">
            <a:avLst>
              <a:gd name="adj" fmla="val 6372"/>
            </a:avLst>
          </a:prstGeom>
          <a:solidFill xmlns:a="http://schemas.openxmlformats.org/drawingml/2006/main">
            <a:srgbClr val="FFF4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648C007-7C3F-4B14-997C-FFE874435E64}"/>
              </a:ext>
            </a:extLst>
          </p:cNvPr>
          <p:cNvSpPr>
            <a:spLocks xmlns:a="http://schemas.openxmlformats.org/drawingml/2006/main" noGrp="1"/>
          </p:cNvSpPr>
          <p:nvPr/>
        </p:nvSpPr>
        <p:spPr>
          <a:xfrm xmlns:a="http://schemas.openxmlformats.org/drawingml/2006/main">
            <a:off x="6181725" y="1847850"/>
            <a:ext cx="2690813" cy="133350"/>
          </a:xfrm>
          <a:prstGeom xmlns:a="http://schemas.openxmlformats.org/drawingml/2006/main" prst="rect">
            <a:avLst/>
          </a:prstGeom>
          <a:solidFill xmlns:a="http://schemas.openxmlformats.org/drawingml/2006/main">
            <a:srgbClr val="F2BA4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2605051-36BE-4CCC-9D6B-DD5E3163B303}"/>
              </a:ext>
            </a:extLst>
          </p:cNvPr>
          <p:cNvSpPr>
            <a:spLocks xmlns:a="http://schemas.openxmlformats.org/drawingml/2006/main" noGrp="1"/>
          </p:cNvSpPr>
          <p:nvPr/>
        </p:nvSpPr>
        <p:spPr>
          <a:xfrm xmlns:a="http://schemas.openxmlformats.org/drawingml/2006/main">
            <a:off x="6391275" y="2209800"/>
            <a:ext cx="2271713"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1">
                <a:solidFill>
                  <a:srgbClr val="F2BA49"/>
                </a:solidFill>
                <a:latin typeface="Aptos Display"/>
                <a:ea typeface="Aptos Display"/>
                <a:cs typeface="Aptos Display"/>
              </a:defRPr>
            </a:pPr>
            <a:r>
              <a:rPr sz="1950" b="1">
                <a:solidFill>
                  <a:srgbClr val="F2BA49"/>
                </a:solidFill>
                <a:latin typeface="Aptos Display"/>
                <a:ea typeface="Aptos Display"/>
                <a:cs typeface="Aptos Display"/>
              </a:rPr>
              <a:t>REVISE + RETURN</a:t>
            </a:r>
          </a:p>
        </p:txBody>
      </p:sp>
      <p:sp>
        <p:nvSpPr>
          <p:cNvPr id="17" name="">
            <a:extLst xmlns:a="http://schemas.openxmlformats.org/drawingml/2006/main">
              <a:ext uri="{FF2B5EF4-FFF2-40B4-BE49-F238E27FC236}">
                <a16:creationId xmlns:a16="http://schemas.microsoft.com/office/drawing/2014/main" id="{944EAF29-BCA1-4068-B414-7A576CB1E8B9}"/>
              </a:ext>
            </a:extLst>
          </p:cNvPr>
          <p:cNvSpPr>
            <a:spLocks xmlns:a="http://schemas.openxmlformats.org/drawingml/2006/main" noGrp="1"/>
          </p:cNvSpPr>
          <p:nvPr/>
        </p:nvSpPr>
        <p:spPr>
          <a:xfrm xmlns:a="http://schemas.openxmlformats.org/drawingml/2006/main">
            <a:off x="6391275" y="3048000"/>
            <a:ext cx="2271713"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0">
                <a:solidFill>
                  <a:srgbClr val="18233A"/>
                </a:solidFill>
                <a:latin typeface="Aptos"/>
                <a:ea typeface="Aptos"/>
                <a:cs typeface="Aptos"/>
              </a:defRPr>
            </a:pPr>
            <a:r>
              <a:rPr sz="1575" b="0">
                <a:solidFill>
                  <a:srgbClr val="18233A"/>
                </a:solidFill>
                <a:latin typeface="Aptos"/>
                <a:ea typeface="Aptos"/>
                <a:cs typeface="Aptos"/>
              </a:rPr>
              <a:t>Write the exact revision and arrange another mentor review.</a:t>
            </a:r>
          </a:p>
        </p:txBody>
      </p:sp>
      <p:sp>
        <p:nvSpPr>
          <p:cNvPr id="18" name="">
            <a:extLst xmlns:a="http://schemas.openxmlformats.org/drawingml/2006/main">
              <a:ext uri="{FF2B5EF4-FFF2-40B4-BE49-F238E27FC236}">
                <a16:creationId xmlns:a16="http://schemas.microsoft.com/office/drawing/2014/main" id="{D0A8E4F8-636F-4214-9227-7298220CDB75}"/>
              </a:ext>
            </a:extLst>
          </p:cNvPr>
          <p:cNvSpPr>
            <a:spLocks xmlns:a="http://schemas.openxmlformats.org/drawingml/2006/main" noGrp="1"/>
          </p:cNvSpPr>
          <p:nvPr/>
        </p:nvSpPr>
        <p:spPr>
          <a:xfrm xmlns:a="http://schemas.openxmlformats.org/drawingml/2006/main">
            <a:off x="9043988" y="1847850"/>
            <a:ext cx="2690813" cy="3467100"/>
          </a:xfrm>
          <a:prstGeom xmlns:a="http://schemas.openxmlformats.org/drawingml/2006/main" prst="roundRect">
            <a:avLst>
              <a:gd name="adj" fmla="val 6372"/>
            </a:avLst>
          </a:prstGeom>
          <a:solidFill xmlns:a="http://schemas.openxmlformats.org/drawingml/2006/main">
            <a:srgbClr val="FDECE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81512DC-6348-4C92-8FD8-C977255CA1BA}"/>
              </a:ext>
            </a:extLst>
          </p:cNvPr>
          <p:cNvSpPr>
            <a:spLocks xmlns:a="http://schemas.openxmlformats.org/drawingml/2006/main" noGrp="1"/>
          </p:cNvSpPr>
          <p:nvPr/>
        </p:nvSpPr>
        <p:spPr>
          <a:xfrm xmlns:a="http://schemas.openxmlformats.org/drawingml/2006/main">
            <a:off x="9043988" y="1847850"/>
            <a:ext cx="2690813" cy="133350"/>
          </a:xfrm>
          <a:prstGeom xmlns:a="http://schemas.openxmlformats.org/drawingml/2006/main" prst="rect">
            <a:avLst/>
          </a:prstGeom>
          <a:solidFill xmlns:a="http://schemas.openxmlformats.org/drawingml/2006/main">
            <a:srgbClr val="C43D4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B68F4B8-E00C-42E4-948C-687B7AECAD52}"/>
              </a:ext>
            </a:extLst>
          </p:cNvPr>
          <p:cNvSpPr>
            <a:spLocks xmlns:a="http://schemas.openxmlformats.org/drawingml/2006/main" noGrp="1"/>
          </p:cNvSpPr>
          <p:nvPr/>
        </p:nvSpPr>
        <p:spPr>
          <a:xfrm xmlns:a="http://schemas.openxmlformats.org/drawingml/2006/main">
            <a:off x="9253538" y="2209800"/>
            <a:ext cx="2271713"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1">
                <a:solidFill>
                  <a:srgbClr val="C43D4C"/>
                </a:solidFill>
                <a:latin typeface="Aptos Display"/>
                <a:ea typeface="Aptos Display"/>
                <a:cs typeface="Aptos Display"/>
              </a:defRPr>
            </a:pPr>
            <a:r>
              <a:rPr sz="1950" b="1">
                <a:solidFill>
                  <a:srgbClr val="C43D4C"/>
                </a:solidFill>
                <a:latin typeface="Aptos Display"/>
                <a:ea typeface="Aptos Display"/>
                <a:cs typeface="Aptos Display"/>
              </a:rPr>
              <a:t>TECH REVIEW</a:t>
            </a:r>
          </a:p>
        </p:txBody>
      </p:sp>
      <p:sp>
        <p:nvSpPr>
          <p:cNvPr id="21" name="">
            <a:extLst xmlns:a="http://schemas.openxmlformats.org/drawingml/2006/main">
              <a:ext uri="{FF2B5EF4-FFF2-40B4-BE49-F238E27FC236}">
                <a16:creationId xmlns:a16="http://schemas.microsoft.com/office/drawing/2014/main" id="{D2760BF1-AE54-4C5B-8AC7-742B1B1D416E}"/>
              </a:ext>
            </a:extLst>
          </p:cNvPr>
          <p:cNvSpPr>
            <a:spLocks xmlns:a="http://schemas.openxmlformats.org/drawingml/2006/main" noGrp="1"/>
          </p:cNvSpPr>
          <p:nvPr/>
        </p:nvSpPr>
        <p:spPr>
          <a:xfrm xmlns:a="http://schemas.openxmlformats.org/drawingml/2006/main">
            <a:off x="9253538" y="3048000"/>
            <a:ext cx="2271713"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0">
                <a:solidFill>
                  <a:srgbClr val="18233A"/>
                </a:solidFill>
                <a:latin typeface="Aptos"/>
                <a:ea typeface="Aptos"/>
                <a:cs typeface="Aptos"/>
              </a:defRPr>
            </a:pPr>
            <a:r>
              <a:rPr sz="1575" b="0">
                <a:solidFill>
                  <a:srgbClr val="18233A"/>
                </a:solidFill>
                <a:latin typeface="Aptos"/>
                <a:ea typeface="Aptos"/>
                <a:cs typeface="Aptos"/>
              </a:rPr>
              <a:t>Hold the untested feature for Tri and your pathway mentor to check.</a:t>
            </a:r>
          </a:p>
        </p:txBody>
      </p:sp>
      <p:sp>
        <p:nvSpPr>
          <p:cNvPr id="22" name="">
            <a:extLst xmlns:a="http://schemas.openxmlformats.org/drawingml/2006/main">
              <a:ext uri="{FF2B5EF4-FFF2-40B4-BE49-F238E27FC236}">
                <a16:creationId xmlns:a16="http://schemas.microsoft.com/office/drawing/2014/main" id="{B1D29271-4758-4CD7-9425-71405480EA91}"/>
              </a:ext>
            </a:extLst>
          </p:cNvPr>
          <p:cNvSpPr>
            <a:spLocks xmlns:a="http://schemas.openxmlformats.org/drawingml/2006/main" noGrp="1"/>
          </p:cNvSpPr>
          <p:nvPr/>
        </p:nvSpPr>
        <p:spPr>
          <a:xfrm xmlns:a="http://schemas.openxmlformats.org/drawingml/2006/main">
            <a:off x="457200" y="5581650"/>
            <a:ext cx="11277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8233A"/>
                </a:solidFill>
                <a:latin typeface="Aptos"/>
                <a:ea typeface="Aptos"/>
                <a:cs typeface="Aptos"/>
              </a:defRPr>
            </a:pPr>
            <a:r>
              <a:rPr sz="1725" b="1">
                <a:solidFill>
                  <a:srgbClr val="18233A"/>
                </a:solidFill>
                <a:latin typeface="Aptos"/>
                <a:ea typeface="Aptos"/>
                <a:cs typeface="Aptos"/>
              </a:rPr>
              <a:t>Save code and evidence. Power off, count tools, label storage, and record your next action.</a:t>
            </a:r>
          </a:p>
        </p:txBody>
      </p:sp>
      <p:sp>
        <p:nvSpPr>
          <p:cNvPr id="23" name="">
            <a:extLst xmlns:a="http://schemas.openxmlformats.org/drawingml/2006/main">
              <a:ext uri="{FF2B5EF4-FFF2-40B4-BE49-F238E27FC236}">
                <a16:creationId xmlns:a16="http://schemas.microsoft.com/office/drawing/2014/main" id="{1EDFDFC2-443B-4A79-B0AF-095605B18137}"/>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DFE3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579A078-BA30-4104-8845-733BBB97C9C0}"/>
              </a:ext>
            </a:extLst>
          </p:cNvPr>
          <p:cNvSpPr>
            <a:spLocks xmlns:a="http://schemas.openxmlformats.org/drawingml/2006/main" noGrp="1"/>
          </p:cNvSpPr>
          <p:nvPr/>
        </p:nvSpPr>
        <p:spPr>
          <a:xfrm xmlns:a="http://schemas.openxmlformats.org/drawingml/2006/main">
            <a:off x="457200" y="6515100"/>
            <a:ext cx="11277600" cy="38100"/>
          </a:xfrm>
          <a:prstGeom xmlns:a="http://schemas.openxmlformats.org/drawingml/2006/main" prst="rect">
            <a:avLst/>
          </a:prstGeom>
          <a:solidFill xmlns:a="http://schemas.openxmlformats.org/drawingml/2006/main">
            <a:srgbClr val="5F3DC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38AC2A0-6FF0-440A-9EBD-95FF501A1CAD}"/>
              </a:ext>
            </a:extLst>
          </p:cNvPr>
          <p:cNvSpPr>
            <a:spLocks xmlns:a="http://schemas.openxmlformats.org/drawingml/2006/main" noGrp="1"/>
          </p:cNvSpPr>
          <p:nvPr/>
        </p:nvSpPr>
        <p:spPr>
          <a:xfrm xmlns:a="http://schemas.openxmlformats.org/drawingml/2006/main">
            <a:off x="457200" y="662940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9657A"/>
                </a:solidFill>
                <a:latin typeface="Aptos"/>
                <a:ea typeface="Aptos"/>
                <a:cs typeface="Aptos"/>
              </a:defRPr>
            </a:pPr>
            <a:r>
              <a:rPr sz="900" b="0">
                <a:solidFill>
                  <a:srgbClr val="59657A"/>
                </a:solidFill>
                <a:latin typeface="Aptos"/>
                <a:ea typeface="Aptos"/>
                <a:cs typeface="Aptos"/>
              </a:rPr>
              <a:t>September 24 backup plan</a:t>
            </a:r>
          </a:p>
        </p:txBody>
      </p:sp>
      <p:sp>
        <p:nvSpPr>
          <p:cNvPr id="26" name="">
            <a:extLst xmlns:a="http://schemas.openxmlformats.org/drawingml/2006/main">
              <a:ext uri="{FF2B5EF4-FFF2-40B4-BE49-F238E27FC236}">
                <a16:creationId xmlns:a16="http://schemas.microsoft.com/office/drawing/2014/main" id="{3CE9BE7F-36A2-4AC5-BAD5-DCEAC50E627B}"/>
              </a:ext>
            </a:extLst>
          </p:cNvPr>
          <p:cNvSpPr>
            <a:spLocks xmlns:a="http://schemas.openxmlformats.org/drawingml/2006/main" noGrp="1"/>
          </p:cNvSpPr>
          <p:nvPr/>
        </p:nvSpPr>
        <p:spPr>
          <a:xfrm xmlns:a="http://schemas.openxmlformats.org/drawingml/2006/main">
            <a:off x="8953500" y="66294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00" b="0">
                <a:solidFill>
                  <a:srgbClr val="59657A"/>
                </a:solidFill>
                <a:latin typeface="Aptos"/>
                <a:ea typeface="Aptos"/>
                <a:cs typeface="Aptos"/>
              </a:defRPr>
            </a:pPr>
            <a:r>
              <a:rPr sz="900" b="0">
                <a:solidFill>
                  <a:srgbClr val="59657A"/>
                </a:solidFill>
                <a:latin typeface="Aptos"/>
                <a:ea typeface="Aptos"/>
                <a:cs typeface="Aptos"/>
              </a:rPr>
              <a:t>Follow your mentor at your home table</a:t>
            </a:r>
          </a:p>
        </p:txBody>
      </p:sp>
    </p:spTree>
    <p:extLst>
      <p:ext uri="{BB962C8B-B14F-4D97-AF65-F5344CB8AC3E}">
        <p14:creationId xmlns:p14="http://schemas.microsoft.com/office/powerpoint/2010/main" val="1990921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2026-09-23T22:14:49.6770000Z</dcterms:created>
  <dcterms:modified xsi:type="dcterms:W3CDTF">2026-09-23T22:14:49.6770000Z</dcterms:modified>
</coreProperties>
</file>